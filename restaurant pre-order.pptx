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62" r:id="rId5"/>
    <p:sldId id="260" r:id="rId6"/>
    <p:sldId id="259" r:id="rId7"/>
    <p:sldId id="261"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07" autoAdjust="0"/>
  </p:normalViewPr>
  <p:slideViewPr>
    <p:cSldViewPr snapToGrid="0">
      <p:cViewPr varScale="1">
        <p:scale>
          <a:sx n="58" d="100"/>
          <a:sy n="58" d="100"/>
        </p:scale>
        <p:origin x="920" y="56"/>
      </p:cViewPr>
      <p:guideLst/>
    </p:cSldViewPr>
  </p:slideViewPr>
  <p:outlineViewPr>
    <p:cViewPr>
      <p:scale>
        <a:sx n="33" d="100"/>
        <a:sy n="33" d="100"/>
      </p:scale>
      <p:origin x="0" y="-667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an Bright" userId="32b8178e2a5ffe00" providerId="LiveId" clId="{EA5BF2B0-DA8D-4AF2-B5DE-FE027C326A73}"/>
    <pc:docChg chg="modSld">
      <pc:chgData name="Roshan Bright" userId="32b8178e2a5ffe00" providerId="LiveId" clId="{EA5BF2B0-DA8D-4AF2-B5DE-FE027C326A73}" dt="2026-10-16T03:18:39.076" v="3" actId="1076"/>
      <pc:docMkLst>
        <pc:docMk/>
      </pc:docMkLst>
      <pc:sldChg chg="modSp mod">
        <pc:chgData name="Roshan Bright" userId="32b8178e2a5ffe00" providerId="LiveId" clId="{EA5BF2B0-DA8D-4AF2-B5DE-FE027C326A73}" dt="2026-10-16T03:18:39.076" v="3" actId="1076"/>
        <pc:sldMkLst>
          <pc:docMk/>
          <pc:sldMk cId="525051298" sldId="256"/>
        </pc:sldMkLst>
        <pc:spChg chg="mod">
          <ac:chgData name="Roshan Bright" userId="32b8178e2a5ffe00" providerId="LiveId" clId="{EA5BF2B0-DA8D-4AF2-B5DE-FE027C326A73}" dt="2026-10-16T03:18:39.076" v="3" actId="1076"/>
          <ac:spMkLst>
            <pc:docMk/>
            <pc:sldMk cId="525051298" sldId="256"/>
            <ac:spMk id="3" creationId="{232AFFCA-8FE9-108E-E258-93BAAAFD40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BC42BF-8D7F-474B-A5DD-3B622470343D}"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1F843B-0AC8-41C4-BF2B-87A7267154DF}" type="slidenum">
              <a:rPr lang="en-US" smtClean="0"/>
              <a:t>‹#›</a:t>
            </a:fld>
            <a:endParaRPr lang="en-US"/>
          </a:p>
        </p:txBody>
      </p:sp>
    </p:spTree>
    <p:extLst>
      <p:ext uri="{BB962C8B-B14F-4D97-AF65-F5344CB8AC3E}">
        <p14:creationId xmlns:p14="http://schemas.microsoft.com/office/powerpoint/2010/main" val="2364513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1F843B-0AC8-41C4-BF2B-87A7267154DF}" type="slidenum">
              <a:rPr lang="en-US" smtClean="0"/>
              <a:t>6</a:t>
            </a:fld>
            <a:endParaRPr lang="en-US"/>
          </a:p>
        </p:txBody>
      </p:sp>
    </p:spTree>
    <p:extLst>
      <p:ext uri="{BB962C8B-B14F-4D97-AF65-F5344CB8AC3E}">
        <p14:creationId xmlns:p14="http://schemas.microsoft.com/office/powerpoint/2010/main" val="3469793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1F843B-0AC8-41C4-BF2B-87A7267154DF}" type="slidenum">
              <a:rPr lang="en-US" smtClean="0"/>
              <a:t>7</a:t>
            </a:fld>
            <a:endParaRPr lang="en-US"/>
          </a:p>
        </p:txBody>
      </p:sp>
    </p:spTree>
    <p:extLst>
      <p:ext uri="{BB962C8B-B14F-4D97-AF65-F5344CB8AC3E}">
        <p14:creationId xmlns:p14="http://schemas.microsoft.com/office/powerpoint/2010/main" val="3744563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1F843B-0AC8-41C4-BF2B-87A7267154DF}" type="slidenum">
              <a:rPr lang="en-US" smtClean="0"/>
              <a:t>10</a:t>
            </a:fld>
            <a:endParaRPr lang="en-US"/>
          </a:p>
        </p:txBody>
      </p:sp>
    </p:spTree>
    <p:extLst>
      <p:ext uri="{BB962C8B-B14F-4D97-AF65-F5344CB8AC3E}">
        <p14:creationId xmlns:p14="http://schemas.microsoft.com/office/powerpoint/2010/main" val="117897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B4B9-4C23-6A72-51D2-BC2F2AA3C3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447E2B-616F-C86C-A0FF-C7F1681B1B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5568B7-2C1E-340E-1451-CDD1F0FF8AF2}"/>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5" name="Footer Placeholder 4">
            <a:extLst>
              <a:ext uri="{FF2B5EF4-FFF2-40B4-BE49-F238E27FC236}">
                <a16:creationId xmlns:a16="http://schemas.microsoft.com/office/drawing/2014/main" id="{9CA8B861-8A3B-0A9A-9E89-471164C50A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ECBC6-0BCE-2337-2A81-6542C8713B9F}"/>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2095604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F063A-3D26-0C58-90BE-3DA16F112D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73FF35-75E0-11A5-0ABE-978F29550D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980B2D-BC38-F16F-5971-D8C826D475D8}"/>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5" name="Footer Placeholder 4">
            <a:extLst>
              <a:ext uri="{FF2B5EF4-FFF2-40B4-BE49-F238E27FC236}">
                <a16:creationId xmlns:a16="http://schemas.microsoft.com/office/drawing/2014/main" id="{42EEF7B0-5094-CC40-6637-B8D3261E9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A96434-C2DC-35CF-D1CE-1C20A9859F50}"/>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1145944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92F31-8AAA-A7C6-7784-2CBB1C7664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9DCA15-796D-6255-8EDC-8647966460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314235-F6D6-1119-7655-BF130F9CFE75}"/>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5" name="Footer Placeholder 4">
            <a:extLst>
              <a:ext uri="{FF2B5EF4-FFF2-40B4-BE49-F238E27FC236}">
                <a16:creationId xmlns:a16="http://schemas.microsoft.com/office/drawing/2014/main" id="{64692935-8DA7-CB02-1CD9-25B083C8F8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C66E50-9172-335F-B37A-675E792DD989}"/>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1949757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5817-B55B-F952-50A5-E052F9FA41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7437DA-F6AC-71F8-C909-2D72FEBE0D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C5F51F-2F6B-2C7A-D780-54638BEC75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AE43DF-B637-DD31-CB43-0DF130E61C73}"/>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6" name="Footer Placeholder 5">
            <a:extLst>
              <a:ext uri="{FF2B5EF4-FFF2-40B4-BE49-F238E27FC236}">
                <a16:creationId xmlns:a16="http://schemas.microsoft.com/office/drawing/2014/main" id="{20317B6D-6B20-ADB1-CB90-462BBC6245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53DBDB-5BFC-0691-8A75-8C515993AD65}"/>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2198581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8CC52-886B-58EC-0511-03C01C911C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D42020-8866-3D0D-3A09-0B3CE53A9B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15CEF2-7878-5FAF-4F5E-E6F6043B87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FAA55D-02D4-D842-89EE-2D19DD7CC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B098CE-BB18-D23B-1578-8655E80532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641B80-71DF-7F31-5CF3-C3A4FD10DF2B}"/>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8" name="Footer Placeholder 7">
            <a:extLst>
              <a:ext uri="{FF2B5EF4-FFF2-40B4-BE49-F238E27FC236}">
                <a16:creationId xmlns:a16="http://schemas.microsoft.com/office/drawing/2014/main" id="{DF408F25-5F4C-E0B9-A196-7397AA0BDD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61E05C-A87F-4B39-6713-7EF107385381}"/>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4293813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5576C-84C6-4A91-BB25-14B28A58D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AF9B81-05D2-6973-BACE-8BA5C97C27A5}"/>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4" name="Footer Placeholder 3">
            <a:extLst>
              <a:ext uri="{FF2B5EF4-FFF2-40B4-BE49-F238E27FC236}">
                <a16:creationId xmlns:a16="http://schemas.microsoft.com/office/drawing/2014/main" id="{B329512F-8632-28F0-5121-D1F2352D4F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8E0D66-1200-F0EE-590F-B5214E7B5B45}"/>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680038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7D6A37-D455-D48C-81B1-608C0A75FCB9}"/>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3" name="Footer Placeholder 2">
            <a:extLst>
              <a:ext uri="{FF2B5EF4-FFF2-40B4-BE49-F238E27FC236}">
                <a16:creationId xmlns:a16="http://schemas.microsoft.com/office/drawing/2014/main" id="{14C14217-FC04-ECBE-FB9E-FB100667EE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A95FEE-3465-026E-1246-39178439C41A}"/>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3731932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CAB1-5AF8-BD9E-130A-3E5FA212CA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BB8B8E-3FB3-EC0C-9EBC-A6ED39EC18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08C528-633E-A9E0-A652-7F2EBFC861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406DD4-B376-DCDD-7F11-158D46F1F6FE}"/>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6" name="Footer Placeholder 5">
            <a:extLst>
              <a:ext uri="{FF2B5EF4-FFF2-40B4-BE49-F238E27FC236}">
                <a16:creationId xmlns:a16="http://schemas.microsoft.com/office/drawing/2014/main" id="{C0751AC3-E7A0-D2A0-B78A-6941EE6108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336186-4C89-4971-EED3-0D5DAF34709A}"/>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2820821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B0DF4-600A-8895-764F-2F6F19B65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A2E4B2-53DC-5EAC-199F-048EF3307C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834D34-9A67-AF75-5935-8E61D79B6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382FF1-7982-6B86-9C41-5244BDE2812C}"/>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6" name="Footer Placeholder 5">
            <a:extLst>
              <a:ext uri="{FF2B5EF4-FFF2-40B4-BE49-F238E27FC236}">
                <a16:creationId xmlns:a16="http://schemas.microsoft.com/office/drawing/2014/main" id="{2A944B09-66E6-9627-9EE2-3DC93CD2C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13E705-859E-FAD6-0331-1B965EF32468}"/>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278275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38F5C-B758-DEEC-352C-9E0306C808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D1F280-7D3E-D7D7-D490-CB811EFAC8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09228-65EC-4D96-4AFB-A39CBF2B7258}"/>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5" name="Footer Placeholder 4">
            <a:extLst>
              <a:ext uri="{FF2B5EF4-FFF2-40B4-BE49-F238E27FC236}">
                <a16:creationId xmlns:a16="http://schemas.microsoft.com/office/drawing/2014/main" id="{87BBC7AA-2FD1-F1F1-28D6-A6D2BFF42B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2FE270-0E6E-1808-4BA6-38177E53528E}"/>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1770602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86E302-93A4-F258-76C1-7EC095D88D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22BF7D-132B-FA71-E29B-777961A42A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1338C8-6373-9ED6-C4E1-57F680942E61}"/>
              </a:ext>
            </a:extLst>
          </p:cNvPr>
          <p:cNvSpPr>
            <a:spLocks noGrp="1"/>
          </p:cNvSpPr>
          <p:nvPr>
            <p:ph type="dt" sz="half" idx="10"/>
          </p:nvPr>
        </p:nvSpPr>
        <p:spPr/>
        <p:txBody>
          <a:bodyPr/>
          <a:lstStyle/>
          <a:p>
            <a:fld id="{FA0B4FE2-C083-470B-8774-9BDCD886ACF3}" type="datetimeFigureOut">
              <a:rPr lang="en-US" smtClean="0"/>
              <a:t>10/16/2026</a:t>
            </a:fld>
            <a:endParaRPr lang="en-US"/>
          </a:p>
        </p:txBody>
      </p:sp>
      <p:sp>
        <p:nvSpPr>
          <p:cNvPr id="5" name="Footer Placeholder 4">
            <a:extLst>
              <a:ext uri="{FF2B5EF4-FFF2-40B4-BE49-F238E27FC236}">
                <a16:creationId xmlns:a16="http://schemas.microsoft.com/office/drawing/2014/main" id="{3660CC49-FA72-9CA9-E340-2A960E335E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FB2A1B-914B-F0B7-C047-44E0611DABB8}"/>
              </a:ext>
            </a:extLst>
          </p:cNvPr>
          <p:cNvSpPr>
            <a:spLocks noGrp="1"/>
          </p:cNvSpPr>
          <p:nvPr>
            <p:ph type="sldNum" sz="quarter" idx="12"/>
          </p:nvPr>
        </p:nvSpPr>
        <p:spPr/>
        <p:txBody>
          <a:bodyPr/>
          <a:lstStyle/>
          <a:p>
            <a:fld id="{9E847A01-1FAE-4845-8F80-35625FB50EDB}" type="slidenum">
              <a:rPr lang="en-US" smtClean="0"/>
              <a:t>‹#›</a:t>
            </a:fld>
            <a:endParaRPr lang="en-US"/>
          </a:p>
        </p:txBody>
      </p:sp>
    </p:spTree>
    <p:extLst>
      <p:ext uri="{BB962C8B-B14F-4D97-AF65-F5344CB8AC3E}">
        <p14:creationId xmlns:p14="http://schemas.microsoft.com/office/powerpoint/2010/main" val="838773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CF42DF-DD7A-E4C1-9EAC-C37BFB9C29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DC79F8-E62E-BB24-B708-5FBD187423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E2A54D-E3DE-7DA9-F568-EA567EC6D6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0B4FE2-C083-470B-8774-9BDCD886ACF3}" type="datetimeFigureOut">
              <a:rPr lang="en-US" smtClean="0"/>
              <a:t>10/16/2026</a:t>
            </a:fld>
            <a:endParaRPr lang="en-US"/>
          </a:p>
        </p:txBody>
      </p:sp>
      <p:sp>
        <p:nvSpPr>
          <p:cNvPr id="5" name="Footer Placeholder 4">
            <a:extLst>
              <a:ext uri="{FF2B5EF4-FFF2-40B4-BE49-F238E27FC236}">
                <a16:creationId xmlns:a16="http://schemas.microsoft.com/office/drawing/2014/main" id="{D37E6838-28F3-65D8-769D-FFF322B235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5942B2-7111-AABE-F688-432592E84F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47A01-1FAE-4845-8F80-35625FB50EDB}" type="slidenum">
              <a:rPr lang="en-US" smtClean="0"/>
              <a:t>‹#›</a:t>
            </a:fld>
            <a:endParaRPr lang="en-US"/>
          </a:p>
        </p:txBody>
      </p:sp>
    </p:spTree>
    <p:extLst>
      <p:ext uri="{BB962C8B-B14F-4D97-AF65-F5344CB8AC3E}">
        <p14:creationId xmlns:p14="http://schemas.microsoft.com/office/powerpoint/2010/main" val="2644328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hyperlink" Target="https://pxhere.com/en/photo/9162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2000"/>
            <a:lum/>
          </a:blip>
          <a:srcRect/>
          <a:stretch>
            <a:fillRect l="-13000"/>
          </a:stretch>
        </a:blipFill>
        <a:effectLst/>
      </p:bgPr>
    </p:bg>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id="{8DE3B6C2-C6F2-DEBC-D497-85A553C4E5CE}"/>
              </a:ext>
            </a:extLst>
          </p:cNvPr>
          <p:cNvSpPr>
            <a:spLocks noGrp="1"/>
          </p:cNvSpPr>
          <p:nvPr>
            <p:ph type="ctrTitle"/>
          </p:nvPr>
        </p:nvSpPr>
        <p:spPr>
          <a:xfrm>
            <a:off x="2199640" y="546100"/>
            <a:ext cx="9471660" cy="1473200"/>
          </a:xfrm>
          <a:ln>
            <a:noFill/>
          </a:ln>
          <a:effectLst>
            <a:reflection blurRad="6350" stA="87000" endPos="65000" dir="5400000" sy="-100000" algn="bl" rotWithShape="0"/>
          </a:effectLst>
        </p:spPr>
        <p:txBody>
          <a:bodyPr>
            <a:normAutofit fontScale="90000"/>
          </a:bodyPr>
          <a:lstStyle/>
          <a:p>
            <a:r>
              <a:rPr lang="en-US" dirty="0">
                <a:solidFill>
                  <a:srgbClr val="FFFF00"/>
                </a:solidFill>
                <a:latin typeface="Algerian" panose="04020705040A02060702" pitchFamily="82" charset="0"/>
                <a:cs typeface="Times New Roman" panose="02020603050405020304" pitchFamily="18" charset="0"/>
              </a:rPr>
              <a:t>Canteen Pre-Order System</a:t>
            </a:r>
            <a:endParaRPr lang="en-US" dirty="0">
              <a:solidFill>
                <a:srgbClr val="FFFF00"/>
              </a:solidFill>
              <a:latin typeface="Algerian" panose="04020705040A02060702" pitchFamily="82" charset="0"/>
            </a:endParaRPr>
          </a:p>
        </p:txBody>
      </p:sp>
      <p:sp useBgFill="1">
        <p:nvSpPr>
          <p:cNvPr id="3" name="Subtitle 2">
            <a:extLst>
              <a:ext uri="{FF2B5EF4-FFF2-40B4-BE49-F238E27FC236}">
                <a16:creationId xmlns:a16="http://schemas.microsoft.com/office/drawing/2014/main" id="{232AFFCA-8FE9-108E-E258-93BAAAFD4071}"/>
              </a:ext>
            </a:extLst>
          </p:cNvPr>
          <p:cNvSpPr>
            <a:spLocks noGrp="1"/>
          </p:cNvSpPr>
          <p:nvPr>
            <p:ph type="subTitle" idx="1"/>
          </p:nvPr>
        </p:nvSpPr>
        <p:spPr>
          <a:xfrm>
            <a:off x="8637225" y="5135390"/>
            <a:ext cx="3554775" cy="1722610"/>
          </a:xfrm>
        </p:spPr>
        <p:txBody>
          <a:bodyPr>
            <a:normAutofit/>
          </a:bodyPr>
          <a:lstStyle/>
          <a:p>
            <a:pPr algn="l"/>
            <a:r>
              <a:rPr lang="en-US" sz="2000" dirty="0">
                <a:solidFill>
                  <a:schemeClr val="bg1"/>
                </a:solidFill>
                <a:latin typeface="Angsana New" panose="02020603050405020304" pitchFamily="18" charset="-34"/>
                <a:cs typeface="Angsana New" panose="02020603050405020304" pitchFamily="18" charset="-34"/>
              </a:rPr>
              <a:t>SUBMITTED BY : </a:t>
            </a:r>
          </a:p>
          <a:p>
            <a:pPr algn="l"/>
            <a:r>
              <a:rPr lang="en-US" sz="2000" dirty="0">
                <a:solidFill>
                  <a:schemeClr val="bg1"/>
                </a:solidFill>
                <a:latin typeface="Angsana New" panose="02020603050405020304" pitchFamily="18" charset="-34"/>
                <a:cs typeface="Angsana New" panose="02020603050405020304" pitchFamily="18" charset="-34"/>
              </a:rPr>
              <a:t>	ROSHAN BRIGHT R   240701439</a:t>
            </a:r>
          </a:p>
          <a:p>
            <a:pPr algn="l"/>
            <a:r>
              <a:rPr lang="en-US" sz="2000" dirty="0">
                <a:solidFill>
                  <a:schemeClr val="bg1"/>
                </a:solidFill>
                <a:latin typeface="Angsana New" panose="02020603050405020304" pitchFamily="18" charset="-34"/>
                <a:cs typeface="Angsana New" panose="02020603050405020304" pitchFamily="18" charset="-34"/>
              </a:rPr>
              <a:t>	</a:t>
            </a:r>
            <a:endParaRPr lang="en-US" dirty="0"/>
          </a:p>
        </p:txBody>
      </p:sp>
    </p:spTree>
    <p:extLst>
      <p:ext uri="{BB962C8B-B14F-4D97-AF65-F5344CB8AC3E}">
        <p14:creationId xmlns:p14="http://schemas.microsoft.com/office/powerpoint/2010/main" val="525051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6000"/>
            <a:lum/>
            <a:extLst>
              <a:ext uri="{BEBA8EAE-BF5A-486C-A8C5-ECC9F3942E4B}">
                <a14:imgProps xmlns:a14="http://schemas.microsoft.com/office/drawing/2010/main">
                  <a14:imgLayer r:embed="rId3">
                    <a14:imgEffect>
                      <a14:colorTemperature colorTemp="4147"/>
                    </a14:imgEffect>
                    <a14:imgEffect>
                      <a14:saturation sat="144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DDAD-6B17-FD88-C142-05D62143FC00}"/>
              </a:ext>
            </a:extLst>
          </p:cNvPr>
          <p:cNvSpPr>
            <a:spLocks noGrp="1"/>
          </p:cNvSpPr>
          <p:nvPr>
            <p:ph type="ctrTitle"/>
          </p:nvPr>
        </p:nvSpPr>
        <p:spPr>
          <a:xfrm>
            <a:off x="3321050" y="444501"/>
            <a:ext cx="5816600" cy="584199"/>
          </a:xfrm>
        </p:spPr>
        <p:txBody>
          <a:bodyPr>
            <a:normAutofit/>
          </a:bodyPr>
          <a:lstStyle/>
          <a:p>
            <a:r>
              <a:rPr lang="en-US" sz="2800" b="1" dirty="0">
                <a:latin typeface="Bodoni MT" panose="02070603080606020203" pitchFamily="18" charset="0"/>
              </a:rPr>
              <a:t>INTRODUCTION</a:t>
            </a:r>
          </a:p>
        </p:txBody>
      </p:sp>
      <p:sp>
        <p:nvSpPr>
          <p:cNvPr id="3" name="Subtitle 2">
            <a:extLst>
              <a:ext uri="{FF2B5EF4-FFF2-40B4-BE49-F238E27FC236}">
                <a16:creationId xmlns:a16="http://schemas.microsoft.com/office/drawing/2014/main" id="{CEED7073-74DA-358D-CCAD-1D7FCB0A22DB}"/>
              </a:ext>
            </a:extLst>
          </p:cNvPr>
          <p:cNvSpPr>
            <a:spLocks noGrp="1"/>
          </p:cNvSpPr>
          <p:nvPr>
            <p:ph type="subTitle" idx="1"/>
          </p:nvPr>
        </p:nvSpPr>
        <p:spPr>
          <a:xfrm>
            <a:off x="647700" y="1883885"/>
            <a:ext cx="11163300" cy="3525398"/>
          </a:xfrm>
          <a:solidFill>
            <a:schemeClr val="bg1">
              <a:lumMod val="50000"/>
              <a:alpha val="57000"/>
            </a:schemeClr>
          </a:solidFill>
          <a:effectLst/>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The Canteen Pre-Order System is a technology-based system that enables customers to place orders for food in advance using a web or mobile application. The system eliminates queues, waiting time, and mistakes that occur during peak hours. The system enables canteen management to handle orders effectively and reduces food wastage. In general, the system enhances convenience, speed, and efficiency for customers and canteen management.</a:t>
            </a:r>
          </a:p>
        </p:txBody>
      </p:sp>
    </p:spTree>
    <p:extLst>
      <p:ext uri="{BB962C8B-B14F-4D97-AF65-F5344CB8AC3E}">
        <p14:creationId xmlns:p14="http://schemas.microsoft.com/office/powerpoint/2010/main" val="48548341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09E3C-3A36-BAEF-E221-4EF00F825157}"/>
              </a:ext>
            </a:extLst>
          </p:cNvPr>
          <p:cNvSpPr>
            <a:spLocks noGrp="1"/>
          </p:cNvSpPr>
          <p:nvPr>
            <p:ph type="title"/>
          </p:nvPr>
        </p:nvSpPr>
        <p:spPr>
          <a:xfrm>
            <a:off x="3949700" y="238125"/>
            <a:ext cx="4279900" cy="1325563"/>
          </a:xfrm>
        </p:spPr>
        <p:txBody>
          <a:bodyPr>
            <a:normAutofit/>
          </a:bodyPr>
          <a:lstStyle/>
          <a:p>
            <a:pPr algn="ctr"/>
            <a:r>
              <a:rPr lang="en-US" sz="2800" b="1" dirty="0">
                <a:solidFill>
                  <a:schemeClr val="accent2">
                    <a:lumMod val="60000"/>
                    <a:lumOff val="40000"/>
                  </a:schemeClr>
                </a:solidFill>
                <a:latin typeface="Bodoni MT" panose="02070603080606020203" pitchFamily="18" charset="0"/>
              </a:rPr>
              <a:t>PROBLEM  STATEMENT </a:t>
            </a:r>
          </a:p>
        </p:txBody>
      </p:sp>
      <p:sp>
        <p:nvSpPr>
          <p:cNvPr id="3" name="Content Placeholder 2">
            <a:extLst>
              <a:ext uri="{FF2B5EF4-FFF2-40B4-BE49-F238E27FC236}">
                <a16:creationId xmlns:a16="http://schemas.microsoft.com/office/drawing/2014/main" id="{74B6ADCF-DC68-A801-E26A-4F74AB597DF1}"/>
              </a:ext>
            </a:extLst>
          </p:cNvPr>
          <p:cNvSpPr>
            <a:spLocks noGrp="1"/>
          </p:cNvSpPr>
          <p:nvPr>
            <p:ph idx="1"/>
          </p:nvPr>
        </p:nvSpPr>
        <p:spPr>
          <a:xfrm>
            <a:off x="819150" y="1406526"/>
            <a:ext cx="10814050" cy="5060950"/>
          </a:xfrm>
        </p:spPr>
        <p:txBody>
          <a:bodyPr>
            <a:noAutofit/>
          </a:bodyPr>
          <a:lstStyle/>
          <a:p>
            <a:pPr marL="0" indent="0" algn="just">
              <a:lnSpc>
                <a:spcPct val="150000"/>
              </a:lnSpc>
              <a:buNone/>
            </a:pPr>
            <a:r>
              <a:rPr lang="en-US" sz="2400" dirty="0">
                <a:solidFill>
                  <a:schemeClr val="bg1"/>
                </a:solidFill>
                <a:latin typeface="Times New Roman" panose="02020603050405020304" pitchFamily="18" charset="0"/>
                <a:cs typeface="Times New Roman" panose="02020603050405020304" pitchFamily="18" charset="0"/>
              </a:rPr>
              <a:t>The Traditional Canteen Management System in educational institutions and organizations is primarily dependent on manual systems, resulting in long queues, delays, and low service quality. The lack of a Pre-Order System causes customers to wait during peak times, resulting in congestion and low convenience levels. Moreover, the lack of Digital Ordering makes it difficult for canteen management to monitor orders, track inventory, and process payments. The above-mentioned problems and challenges clearly indicate the need for a more efficient and modern digital system that would allow customers to pre-order their food, make cashless payments, and monitor orders in real time.</a:t>
            </a:r>
          </a:p>
        </p:txBody>
      </p:sp>
    </p:spTree>
    <p:extLst>
      <p:ext uri="{BB962C8B-B14F-4D97-AF65-F5344CB8AC3E}">
        <p14:creationId xmlns:p14="http://schemas.microsoft.com/office/powerpoint/2010/main" val="409018129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6C733-AC89-F125-CCBA-FF8539FEF51A}"/>
              </a:ext>
            </a:extLst>
          </p:cNvPr>
          <p:cNvSpPr>
            <a:spLocks noGrp="1"/>
          </p:cNvSpPr>
          <p:nvPr>
            <p:ph type="title"/>
          </p:nvPr>
        </p:nvSpPr>
        <p:spPr>
          <a:xfrm>
            <a:off x="4546600" y="212725"/>
            <a:ext cx="2311400" cy="790575"/>
          </a:xfrm>
        </p:spPr>
        <p:txBody>
          <a:bodyPr>
            <a:normAutofit/>
          </a:bodyPr>
          <a:lstStyle/>
          <a:p>
            <a:r>
              <a:rPr lang="en-US" sz="2800" b="1" dirty="0">
                <a:solidFill>
                  <a:schemeClr val="accent2">
                    <a:lumMod val="60000"/>
                    <a:lumOff val="40000"/>
                  </a:schemeClr>
                </a:solidFill>
                <a:latin typeface="Bodoni MT" panose="02070603080606020203" pitchFamily="18" charset="0"/>
              </a:rPr>
              <a:t>ABSTRACT</a:t>
            </a:r>
            <a:r>
              <a:rPr lang="en-US" sz="2800" b="1" dirty="0">
                <a:solidFill>
                  <a:schemeClr val="bg1"/>
                </a:solidFill>
                <a:latin typeface="Bodoni MT" panose="02070603080606020203" pitchFamily="18" charset="0"/>
              </a:rPr>
              <a:t>  </a:t>
            </a:r>
          </a:p>
        </p:txBody>
      </p:sp>
      <p:sp>
        <p:nvSpPr>
          <p:cNvPr id="8" name="Rectangle 5">
            <a:extLst>
              <a:ext uri="{FF2B5EF4-FFF2-40B4-BE49-F238E27FC236}">
                <a16:creationId xmlns:a16="http://schemas.microsoft.com/office/drawing/2014/main" id="{D1AFD82F-AD3E-8F73-DBBD-2CEB78AEBDC9}"/>
              </a:ext>
            </a:extLst>
          </p:cNvPr>
          <p:cNvSpPr>
            <a:spLocks noGrp="1" noChangeArrowheads="1"/>
          </p:cNvSpPr>
          <p:nvPr>
            <p:ph idx="1"/>
          </p:nvPr>
        </p:nvSpPr>
        <p:spPr bwMode="auto">
          <a:xfrm>
            <a:off x="330200" y="856357"/>
            <a:ext cx="115316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Canteen Pre-Order System</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is a digital platform designed to improve the efficiency and convenience of food ordering in institutional canteens. The traditional manual system often results in long queues, time wastage, and order inaccuracies, especially during peak hours. This system allows users to view menus, place orders in advance, and select preferred pickup times using a web or mobile application.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system enhances operational efficiency for canteen management by organizing orders systematically, enabling better demand forecasting, and reducing food wastage. It also supports cashless transactions, which minimizes manual errors and speeds up the payment process. Real-time order updates help staff manage preparation and delivery more effectively.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Overall, the Canteen Pre-Order System improves customer satisfaction by reducing waiting time and ensuring timely food availability. It provides a reliable, user-friendly, and scalable solution that modernizes canteen operations and delivers a smoother food service experience.</a:t>
            </a:r>
          </a:p>
        </p:txBody>
      </p:sp>
    </p:spTree>
    <p:extLst>
      <p:ext uri="{BB962C8B-B14F-4D97-AF65-F5344CB8AC3E}">
        <p14:creationId xmlns:p14="http://schemas.microsoft.com/office/powerpoint/2010/main" val="1617955453"/>
      </p:ext>
    </p:extLst>
  </p:cSld>
  <p:clrMapOvr>
    <a:masterClrMapping/>
  </p:clrMapOvr>
  <p:transition spd="slow">
    <p:comb/>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PencilSketch trans="10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4D991-4587-FD10-43AD-13EBF2D021DF}"/>
              </a:ext>
            </a:extLst>
          </p:cNvPr>
          <p:cNvSpPr>
            <a:spLocks noGrp="1"/>
          </p:cNvSpPr>
          <p:nvPr>
            <p:ph type="title"/>
          </p:nvPr>
        </p:nvSpPr>
        <p:spPr>
          <a:xfrm>
            <a:off x="2768600" y="530225"/>
            <a:ext cx="6311900" cy="955675"/>
          </a:xfrm>
        </p:spPr>
        <p:txBody>
          <a:bodyPr>
            <a:normAutofit/>
          </a:bodyPr>
          <a:lstStyle/>
          <a:p>
            <a:pPr algn="ctr"/>
            <a:r>
              <a:rPr lang="en-US" sz="2800" b="1" dirty="0">
                <a:solidFill>
                  <a:schemeClr val="accent2">
                    <a:lumMod val="60000"/>
                    <a:lumOff val="40000"/>
                  </a:schemeClr>
                </a:solidFill>
                <a:latin typeface="Bodoni MT" panose="02070603080606020203" pitchFamily="18" charset="0"/>
              </a:rPr>
              <a:t>Existing System -Uses</a:t>
            </a:r>
          </a:p>
        </p:txBody>
      </p:sp>
      <p:sp>
        <p:nvSpPr>
          <p:cNvPr id="3" name="Content Placeholder 2">
            <a:extLst>
              <a:ext uri="{FF2B5EF4-FFF2-40B4-BE49-F238E27FC236}">
                <a16:creationId xmlns:a16="http://schemas.microsoft.com/office/drawing/2014/main" id="{1D483EF3-8E8F-ADED-0E53-E4BA3FEF617A}"/>
              </a:ext>
            </a:extLst>
          </p:cNvPr>
          <p:cNvSpPr>
            <a:spLocks noGrp="1"/>
          </p:cNvSpPr>
          <p:nvPr>
            <p:ph idx="1"/>
          </p:nvPr>
        </p:nvSpPr>
        <p:spPr>
          <a:xfrm>
            <a:off x="838200" y="1939924"/>
            <a:ext cx="10896600" cy="4667251"/>
          </a:xfrm>
        </p:spPr>
        <p:txBody>
          <a:bodyPr>
            <a:normAutofit lnSpcReduction="10000"/>
          </a:bodyPr>
          <a:lstStyle/>
          <a:p>
            <a:pPr marL="0" indent="0" algn="just">
              <a:lnSpc>
                <a:spcPct val="150000"/>
              </a:lnSpc>
              <a:buNone/>
            </a:pPr>
            <a:r>
              <a:rPr lang="en-US" sz="2400" dirty="0">
                <a:solidFill>
                  <a:schemeClr val="bg1"/>
                </a:solidFill>
                <a:latin typeface="Times New Roman" panose="02020603050405020304" pitchFamily="18" charset="0"/>
                <a:cs typeface="Times New Roman" panose="02020603050405020304" pitchFamily="18" charset="0"/>
              </a:rPr>
              <a:t>In the existing canteen system, food ordering is done manually at the counter. Customers physically visit the canteen, check the available menu, and place orders directly with the staff. Payments are usually made in cash or through basic digital methods. The system is mainly used for immediate, on-the-spot food preparation and serving. Canteen staff use verbal communication or handwritten notes to manage orders and prepare food accordingly. This system is simple to operate and does not require advanced technology. It is commonly used in small institutions where the number of customers is limited. However, it becomes inefficient during peak hours due to long </a:t>
            </a:r>
            <a:r>
              <a:rPr lang="en-US" sz="2400" dirty="0">
                <a:solidFill>
                  <a:schemeClr val="bg1"/>
                </a:solidFill>
              </a:rPr>
              <a:t>queues, delayed service, and lack of proper order tracking.</a:t>
            </a:r>
          </a:p>
        </p:txBody>
      </p:sp>
      <p:pic>
        <p:nvPicPr>
          <p:cNvPr id="5" name="Picture 4">
            <a:extLst>
              <a:ext uri="{FF2B5EF4-FFF2-40B4-BE49-F238E27FC236}">
                <a16:creationId xmlns:a16="http://schemas.microsoft.com/office/drawing/2014/main" id="{F8502CA2-E1E0-63C1-C02E-C641CACD9E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899647">
            <a:off x="9450010" y="25249"/>
            <a:ext cx="2551546" cy="214342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3197162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13E80-AAF9-6CD1-C890-A04FC1A7B32D}"/>
              </a:ext>
            </a:extLst>
          </p:cNvPr>
          <p:cNvSpPr>
            <a:spLocks noGrp="1"/>
          </p:cNvSpPr>
          <p:nvPr>
            <p:ph type="title"/>
          </p:nvPr>
        </p:nvSpPr>
        <p:spPr>
          <a:xfrm>
            <a:off x="3086100" y="225425"/>
            <a:ext cx="6235700" cy="1325563"/>
          </a:xfrm>
        </p:spPr>
        <p:txBody>
          <a:bodyPr>
            <a:normAutofit/>
          </a:bodyPr>
          <a:lstStyle/>
          <a:p>
            <a:r>
              <a:rPr lang="en-US" sz="2800" dirty="0">
                <a:solidFill>
                  <a:schemeClr val="accent2">
                    <a:lumMod val="60000"/>
                    <a:lumOff val="40000"/>
                  </a:schemeClr>
                </a:solidFill>
                <a:latin typeface="Bodoni MT" panose="02070603080606020203" pitchFamily="18" charset="0"/>
              </a:rPr>
              <a:t>EXISTING SYSTEM - DRAWBACKS</a:t>
            </a:r>
          </a:p>
        </p:txBody>
      </p:sp>
      <p:sp>
        <p:nvSpPr>
          <p:cNvPr id="4" name="Rectangle 1">
            <a:extLst>
              <a:ext uri="{FF2B5EF4-FFF2-40B4-BE49-F238E27FC236}">
                <a16:creationId xmlns:a16="http://schemas.microsoft.com/office/drawing/2014/main" id="{E3EEB4F3-4716-E7C8-0BF9-84D3F2873924}"/>
              </a:ext>
            </a:extLst>
          </p:cNvPr>
          <p:cNvSpPr>
            <a:spLocks noGrp="1" noChangeArrowheads="1"/>
          </p:cNvSpPr>
          <p:nvPr>
            <p:ph idx="1"/>
          </p:nvPr>
        </p:nvSpPr>
        <p:spPr bwMode="auto">
          <a:xfrm>
            <a:off x="609599" y="2010716"/>
            <a:ext cx="10972801"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Long waiting queues and overcrowding during peak hours cause time wastage and inconvenience for customers.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Manual order handling leads to errors, miscommunication, and difficulty in tracking orders efficiently.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Lack of advance planning results in poor inventory management, food wastage, and reduced service efficiency.</a:t>
            </a:r>
          </a:p>
        </p:txBody>
      </p:sp>
      <p:pic>
        <p:nvPicPr>
          <p:cNvPr id="6" name="Picture 5">
            <a:extLst>
              <a:ext uri="{FF2B5EF4-FFF2-40B4-BE49-F238E27FC236}">
                <a16:creationId xmlns:a16="http://schemas.microsoft.com/office/drawing/2014/main" id="{3F4A7B2D-616B-091A-DE54-A83E52767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80388" y="0"/>
            <a:ext cx="2811612" cy="2143424"/>
          </a:xfrm>
          <a:prstGeom prst="rect">
            <a:avLst/>
          </a:prstGeom>
        </p:spPr>
      </p:pic>
    </p:spTree>
    <p:extLst>
      <p:ext uri="{BB962C8B-B14F-4D97-AF65-F5344CB8AC3E}">
        <p14:creationId xmlns:p14="http://schemas.microsoft.com/office/powerpoint/2010/main" val="110824664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2)">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B6AB-FEF4-1FB9-E5AB-C7DBA0AE2B77}"/>
              </a:ext>
            </a:extLst>
          </p:cNvPr>
          <p:cNvSpPr>
            <a:spLocks noGrp="1"/>
          </p:cNvSpPr>
          <p:nvPr>
            <p:ph type="title"/>
          </p:nvPr>
        </p:nvSpPr>
        <p:spPr>
          <a:xfrm>
            <a:off x="3937000" y="352425"/>
            <a:ext cx="4546600" cy="1325563"/>
          </a:xfrm>
        </p:spPr>
        <p:txBody>
          <a:bodyPr>
            <a:normAutofit/>
          </a:bodyPr>
          <a:lstStyle/>
          <a:p>
            <a:pPr algn="ctr"/>
            <a:r>
              <a:rPr lang="en-US" sz="2800" b="1" dirty="0">
                <a:solidFill>
                  <a:schemeClr val="accent2">
                    <a:lumMod val="60000"/>
                    <a:lumOff val="40000"/>
                  </a:schemeClr>
                </a:solidFill>
                <a:latin typeface="Bodoni MT" panose="02070603080606020203"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042E86B8-954C-2A4C-C545-2C04C906107B}"/>
              </a:ext>
            </a:extLst>
          </p:cNvPr>
          <p:cNvSpPr>
            <a:spLocks noGrp="1"/>
          </p:cNvSpPr>
          <p:nvPr>
            <p:ph idx="1"/>
          </p:nvPr>
        </p:nvSpPr>
        <p:spPr>
          <a:xfrm>
            <a:off x="838200" y="1841350"/>
            <a:ext cx="10515600" cy="4351338"/>
          </a:xfrm>
        </p:spPr>
        <p:txBody>
          <a:bodyPr>
            <a:normAutofit/>
          </a:bodyPr>
          <a:lstStyle/>
          <a:p>
            <a:pPr algn="just">
              <a:buFont typeface="Wingdings" panose="05000000000000000000" pitchFamily="2" charset="2"/>
              <a:buChar char="§"/>
            </a:pPr>
            <a:r>
              <a:rPr lang="en-US" sz="2400" dirty="0">
                <a:solidFill>
                  <a:schemeClr val="bg1"/>
                </a:solidFill>
                <a:latin typeface="Times New Roman" panose="02020603050405020304" pitchFamily="18" charset="0"/>
                <a:cs typeface="Times New Roman" panose="02020603050405020304" pitchFamily="18" charset="0"/>
              </a:rPr>
              <a:t>The proposed system is called Canteen Pre-Order System. The system enables customers to place orders for food in advance using a web or mobile application.</a:t>
            </a:r>
          </a:p>
          <a:p>
            <a:pPr algn="just">
              <a:buFont typeface="Wingdings" panose="05000000000000000000" pitchFamily="2" charset="2"/>
              <a:buChar char="§"/>
            </a:pPr>
            <a:endParaRPr lang="en-US" sz="2400" dirty="0">
              <a:solidFill>
                <a:schemeClr val="bg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dirty="0">
                <a:solidFill>
                  <a:schemeClr val="bg1"/>
                </a:solidFill>
                <a:latin typeface="Times New Roman" panose="02020603050405020304" pitchFamily="18" charset="0"/>
                <a:cs typeface="Times New Roman" panose="02020603050405020304" pitchFamily="18" charset="0"/>
              </a:rPr>
              <a:t>The system offers online menu display, cashless payment systems, and live order tracking for improved transparency and convenience.</a:t>
            </a:r>
          </a:p>
          <a:p>
            <a:pPr algn="just">
              <a:buFont typeface="Wingdings" panose="05000000000000000000" pitchFamily="2" charset="2"/>
              <a:buChar char="§"/>
            </a:pPr>
            <a:endParaRPr lang="en-US" sz="2400" dirty="0">
              <a:solidFill>
                <a:schemeClr val="bg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dirty="0">
                <a:solidFill>
                  <a:schemeClr val="bg1"/>
                </a:solidFill>
                <a:latin typeface="Times New Roman" panose="02020603050405020304" pitchFamily="18" charset="0"/>
                <a:cs typeface="Times New Roman" panose="02020603050405020304" pitchFamily="18" charset="0"/>
              </a:rPr>
              <a:t>The proposed system enables canteen staff to manage orders effectively, prepare food accordingly, minimize food wastage, and optimize overall service delivery.</a:t>
            </a:r>
          </a:p>
        </p:txBody>
      </p:sp>
      <p:pic>
        <p:nvPicPr>
          <p:cNvPr id="5" name="Picture 4">
            <a:extLst>
              <a:ext uri="{FF2B5EF4-FFF2-40B4-BE49-F238E27FC236}">
                <a16:creationId xmlns:a16="http://schemas.microsoft.com/office/drawing/2014/main" id="{4E0D40D0-EB6E-0572-31BD-10CD0D45B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36894"/>
            <a:ext cx="2590800" cy="2527506"/>
          </a:xfrm>
          <a:prstGeom prst="rect">
            <a:avLst/>
          </a:prstGeom>
        </p:spPr>
      </p:pic>
    </p:spTree>
    <p:extLst>
      <p:ext uri="{BB962C8B-B14F-4D97-AF65-F5344CB8AC3E}">
        <p14:creationId xmlns:p14="http://schemas.microsoft.com/office/powerpoint/2010/main" val="168988777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79D62-4E4C-3136-3D61-F7C791473322}"/>
              </a:ext>
            </a:extLst>
          </p:cNvPr>
          <p:cNvSpPr>
            <a:spLocks noGrp="1"/>
          </p:cNvSpPr>
          <p:nvPr>
            <p:ph type="ctrTitle"/>
          </p:nvPr>
        </p:nvSpPr>
        <p:spPr>
          <a:xfrm>
            <a:off x="675702" y="187287"/>
            <a:ext cx="4436125" cy="583895"/>
          </a:xfrm>
        </p:spPr>
        <p:txBody>
          <a:bodyPr>
            <a:normAutofit/>
          </a:bodyPr>
          <a:lstStyle/>
          <a:p>
            <a:r>
              <a:rPr lang="en-US" sz="2800" b="1" dirty="0">
                <a:solidFill>
                  <a:schemeClr val="accent2">
                    <a:lumMod val="60000"/>
                    <a:lumOff val="40000"/>
                  </a:schemeClr>
                </a:solidFill>
                <a:latin typeface="Bodoni MT" panose="02070603080606020203" pitchFamily="18" charset="0"/>
              </a:rPr>
              <a:t>LITERATURE SURVEY</a:t>
            </a:r>
          </a:p>
        </p:txBody>
      </p:sp>
      <p:graphicFrame>
        <p:nvGraphicFramePr>
          <p:cNvPr id="7" name="Table 6">
            <a:extLst>
              <a:ext uri="{FF2B5EF4-FFF2-40B4-BE49-F238E27FC236}">
                <a16:creationId xmlns:a16="http://schemas.microsoft.com/office/drawing/2014/main" id="{DF4D6D32-D9C0-51C3-6157-06DE2C925128}"/>
              </a:ext>
            </a:extLst>
          </p:cNvPr>
          <p:cNvGraphicFramePr>
            <a:graphicFrameLocks noGrp="1"/>
          </p:cNvGraphicFramePr>
          <p:nvPr>
            <p:extLst>
              <p:ext uri="{D42A27DB-BD31-4B8C-83A1-F6EECF244321}">
                <p14:modId xmlns:p14="http://schemas.microsoft.com/office/powerpoint/2010/main" val="1761211902"/>
              </p:ext>
            </p:extLst>
          </p:nvPr>
        </p:nvGraphicFramePr>
        <p:xfrm>
          <a:off x="506776" y="1131084"/>
          <a:ext cx="11369406" cy="5487375"/>
        </p:xfrm>
        <a:graphic>
          <a:graphicData uri="http://schemas.openxmlformats.org/drawingml/2006/table">
            <a:tbl>
              <a:tblPr>
                <a:tableStyleId>{35758FB7-9AC5-4552-8A53-C91805E547FA}</a:tableStyleId>
              </a:tblPr>
              <a:tblGrid>
                <a:gridCol w="1626689">
                  <a:extLst>
                    <a:ext uri="{9D8B030D-6E8A-4147-A177-3AD203B41FA5}">
                      <a16:colId xmlns:a16="http://schemas.microsoft.com/office/drawing/2014/main" val="2337353198"/>
                    </a:ext>
                  </a:extLst>
                </a:gridCol>
                <a:gridCol w="1567069">
                  <a:extLst>
                    <a:ext uri="{9D8B030D-6E8A-4147-A177-3AD203B41FA5}">
                      <a16:colId xmlns:a16="http://schemas.microsoft.com/office/drawing/2014/main" val="459541804"/>
                    </a:ext>
                  </a:extLst>
                </a:gridCol>
                <a:gridCol w="1567069">
                  <a:extLst>
                    <a:ext uri="{9D8B030D-6E8A-4147-A177-3AD203B41FA5}">
                      <a16:colId xmlns:a16="http://schemas.microsoft.com/office/drawing/2014/main" val="2879149715"/>
                    </a:ext>
                  </a:extLst>
                </a:gridCol>
                <a:gridCol w="1567069">
                  <a:extLst>
                    <a:ext uri="{9D8B030D-6E8A-4147-A177-3AD203B41FA5}">
                      <a16:colId xmlns:a16="http://schemas.microsoft.com/office/drawing/2014/main" val="2224383802"/>
                    </a:ext>
                  </a:extLst>
                </a:gridCol>
                <a:gridCol w="1567069">
                  <a:extLst>
                    <a:ext uri="{9D8B030D-6E8A-4147-A177-3AD203B41FA5}">
                      <a16:colId xmlns:a16="http://schemas.microsoft.com/office/drawing/2014/main" val="2388295295"/>
                    </a:ext>
                  </a:extLst>
                </a:gridCol>
                <a:gridCol w="3474441">
                  <a:extLst>
                    <a:ext uri="{9D8B030D-6E8A-4147-A177-3AD203B41FA5}">
                      <a16:colId xmlns:a16="http://schemas.microsoft.com/office/drawing/2014/main" val="2890003671"/>
                    </a:ext>
                  </a:extLst>
                </a:gridCol>
              </a:tblGrid>
              <a:tr h="824156">
                <a:tc>
                  <a:txBody>
                    <a:bodyPr/>
                    <a:lstStyle/>
                    <a:p>
                      <a:pPr>
                        <a:buNone/>
                      </a:pPr>
                      <a:r>
                        <a:rPr lang="en-US" sz="1800" b="1" dirty="0" err="1">
                          <a:solidFill>
                            <a:schemeClr val="tx1"/>
                          </a:solidFill>
                        </a:rPr>
                        <a:t>S.No</a:t>
                      </a:r>
                      <a:endParaRPr lang="en-US" sz="1800" b="1" dirty="0">
                        <a:solidFill>
                          <a:schemeClr val="tx1"/>
                        </a:solidFill>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b="1">
                          <a:solidFill>
                            <a:schemeClr val="tx1"/>
                          </a:solidFill>
                        </a:rPr>
                        <a:t>Author Name</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b="1" dirty="0">
                          <a:solidFill>
                            <a:schemeClr val="tx1"/>
                          </a:solidFill>
                        </a:rPr>
                        <a:t>Year of Publish</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b="1">
                          <a:solidFill>
                            <a:schemeClr val="tx1"/>
                          </a:solidFill>
                        </a:rPr>
                        <a:t>Title of Paper</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b="1">
                          <a:solidFill>
                            <a:schemeClr val="tx1"/>
                          </a:solidFill>
                        </a:rPr>
                        <a:t>Technology / Algorithm / Tools Used</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b="1" dirty="0">
                          <a:solidFill>
                            <a:schemeClr val="tx1"/>
                          </a:solidFill>
                        </a:rPr>
                        <a:t>Drawback in Existing System</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6258205"/>
                  </a:ext>
                </a:extLst>
              </a:tr>
              <a:tr h="1832809">
                <a:tc>
                  <a:txBody>
                    <a:bodyPr/>
                    <a:lstStyle/>
                    <a:p>
                      <a:pPr>
                        <a:buNone/>
                      </a:pPr>
                      <a:r>
                        <a:rPr lang="en-US" sz="1600">
                          <a:solidFill>
                            <a:schemeClr val="tx1"/>
                          </a:solidFill>
                        </a:rPr>
                        <a:t>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pt-BR" sz="1600">
                          <a:solidFill>
                            <a:schemeClr val="tx1"/>
                          </a:solidFill>
                        </a:rPr>
                        <a:t>P. K. Sinha, R. Verma</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solidFill>
                            <a:schemeClr val="tx1"/>
                          </a:solidFill>
                        </a:rPr>
                        <a:t>2021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solidFill>
                            <a:schemeClr val="tx1"/>
                          </a:solidFill>
                        </a:rPr>
                        <a:t>Smart Canteen and Cafeteria Management System Using RFID</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solidFill>
                            <a:schemeClr val="tx1"/>
                          </a:solidFill>
                        </a:rPr>
                        <a:t>RFID, IoT, Embedded System</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solidFill>
                            <a:schemeClr val="tx1"/>
                          </a:solidFill>
                        </a:rPr>
                        <a:t>High implementation cost and hardware dependency</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041606"/>
                  </a:ext>
                </a:extLst>
              </a:tr>
              <a:tr h="1691679">
                <a:tc>
                  <a:txBody>
                    <a:bodyPr/>
                    <a:lstStyle/>
                    <a:p>
                      <a:pPr>
                        <a:buNone/>
                      </a:pPr>
                      <a:r>
                        <a:rPr lang="en-US" sz="1600">
                          <a:solidFill>
                            <a:schemeClr val="tx1"/>
                          </a:solidFill>
                        </a:rPr>
                        <a:t>2</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solidFill>
                            <a:schemeClr val="tx1"/>
                          </a:solidFill>
                        </a:rPr>
                        <a:t>A. Sharma, S. Patel</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solidFill>
                            <a:schemeClr val="tx1"/>
                          </a:solidFill>
                        </a:rPr>
                        <a:t>2020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solidFill>
                            <a:schemeClr val="tx1"/>
                          </a:solidFill>
                        </a:rPr>
                        <a:t>Mobile Based Food Ordering System for Smart Canteens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solidFill>
                            <a:schemeClr val="tx1"/>
                          </a:solidFill>
                        </a:rPr>
                        <a:t>Android App, Firebase Database</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solidFill>
                            <a:schemeClr val="tx1"/>
                          </a:solidFill>
                        </a:rPr>
                        <a:t>Requires stable internet connection</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8724245"/>
                  </a:ext>
                </a:extLst>
              </a:tr>
              <a:tr h="1082673">
                <a:tc>
                  <a:txBody>
                    <a:bodyPr/>
                    <a:lstStyle/>
                    <a:p>
                      <a:pPr>
                        <a:buNone/>
                      </a:pPr>
                      <a:r>
                        <a:rPr lang="en-US" sz="1600">
                          <a:solidFill>
                            <a:schemeClr val="tx1"/>
                          </a:solidFill>
                        </a:rPr>
                        <a:t>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solidFill>
                            <a:schemeClr val="tx1"/>
                          </a:solidFill>
                        </a:rPr>
                        <a:t>N. Jain, V. Gupta</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solidFill>
                            <a:schemeClr val="tx1"/>
                          </a:solidFill>
                        </a:rPr>
                        <a:t>2019</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solidFill>
                            <a:schemeClr val="tx1"/>
                          </a:solidFill>
                        </a:rPr>
                        <a:t>Online Food Ordering System Using Android Application</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solidFill>
                            <a:schemeClr val="tx1"/>
                          </a:solidFill>
                        </a:rPr>
                        <a:t>Android Studio, Java, MySQL</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solidFill>
                            <a:schemeClr val="tx1"/>
                          </a:solidFill>
                        </a:rPr>
                        <a:t>Limited scalability and less security features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8689417"/>
                  </a:ext>
                </a:extLst>
              </a:tr>
            </a:tbl>
          </a:graphicData>
        </a:graphic>
      </p:graphicFrame>
    </p:spTree>
    <p:extLst>
      <p:ext uri="{BB962C8B-B14F-4D97-AF65-F5344CB8AC3E}">
        <p14:creationId xmlns:p14="http://schemas.microsoft.com/office/powerpoint/2010/main" val="295100309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EA6127E-2001-A67B-6086-5884F2CDB3AD}"/>
              </a:ext>
            </a:extLst>
          </p:cNvPr>
          <p:cNvGraphicFramePr>
            <a:graphicFrameLocks noGrp="1"/>
          </p:cNvGraphicFramePr>
          <p:nvPr>
            <p:extLst>
              <p:ext uri="{D42A27DB-BD31-4B8C-83A1-F6EECF244321}">
                <p14:modId xmlns:p14="http://schemas.microsoft.com/office/powerpoint/2010/main" val="3459067786"/>
              </p:ext>
            </p:extLst>
          </p:nvPr>
        </p:nvGraphicFramePr>
        <p:xfrm>
          <a:off x="1013552" y="2423160"/>
          <a:ext cx="10410936" cy="2011679"/>
        </p:xfrm>
        <a:graphic>
          <a:graphicData uri="http://schemas.openxmlformats.org/drawingml/2006/table">
            <a:tbl>
              <a:tblPr>
                <a:tableStyleId>{35758FB7-9AC5-4552-8A53-C91805E547FA}</a:tableStyleId>
              </a:tblPr>
              <a:tblGrid>
                <a:gridCol w="1735156">
                  <a:extLst>
                    <a:ext uri="{9D8B030D-6E8A-4147-A177-3AD203B41FA5}">
                      <a16:colId xmlns:a16="http://schemas.microsoft.com/office/drawing/2014/main" val="1262975433"/>
                    </a:ext>
                  </a:extLst>
                </a:gridCol>
                <a:gridCol w="1735156">
                  <a:extLst>
                    <a:ext uri="{9D8B030D-6E8A-4147-A177-3AD203B41FA5}">
                      <a16:colId xmlns:a16="http://schemas.microsoft.com/office/drawing/2014/main" val="839006760"/>
                    </a:ext>
                  </a:extLst>
                </a:gridCol>
                <a:gridCol w="1735156">
                  <a:extLst>
                    <a:ext uri="{9D8B030D-6E8A-4147-A177-3AD203B41FA5}">
                      <a16:colId xmlns:a16="http://schemas.microsoft.com/office/drawing/2014/main" val="2413155791"/>
                    </a:ext>
                  </a:extLst>
                </a:gridCol>
                <a:gridCol w="1735156">
                  <a:extLst>
                    <a:ext uri="{9D8B030D-6E8A-4147-A177-3AD203B41FA5}">
                      <a16:colId xmlns:a16="http://schemas.microsoft.com/office/drawing/2014/main" val="2207633147"/>
                    </a:ext>
                  </a:extLst>
                </a:gridCol>
                <a:gridCol w="1735156">
                  <a:extLst>
                    <a:ext uri="{9D8B030D-6E8A-4147-A177-3AD203B41FA5}">
                      <a16:colId xmlns:a16="http://schemas.microsoft.com/office/drawing/2014/main" val="3989409243"/>
                    </a:ext>
                  </a:extLst>
                </a:gridCol>
                <a:gridCol w="1735156">
                  <a:extLst>
                    <a:ext uri="{9D8B030D-6E8A-4147-A177-3AD203B41FA5}">
                      <a16:colId xmlns:a16="http://schemas.microsoft.com/office/drawing/2014/main" val="1749432349"/>
                    </a:ext>
                  </a:extLst>
                </a:gridCol>
              </a:tblGrid>
              <a:tr h="2011679">
                <a:tc>
                  <a:txBody>
                    <a:bodyPr/>
                    <a:lstStyle/>
                    <a:p>
                      <a:pPr>
                        <a:buNone/>
                      </a:pPr>
                      <a:r>
                        <a:rPr lang="en-US" sz="18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M. Rahman, T. Islam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QR Code Based Smart Canteen Ordering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QR Code Technology, Web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QR dependency may fail if scanning errors occur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0928972"/>
                  </a:ext>
                </a:extLst>
              </a:tr>
            </a:tbl>
          </a:graphicData>
        </a:graphic>
      </p:graphicFrame>
      <p:graphicFrame>
        <p:nvGraphicFramePr>
          <p:cNvPr id="8" name="Table 7">
            <a:extLst>
              <a:ext uri="{FF2B5EF4-FFF2-40B4-BE49-F238E27FC236}">
                <a16:creationId xmlns:a16="http://schemas.microsoft.com/office/drawing/2014/main" id="{3B8CF1FC-0EE9-16DC-EC8E-6CCFDEB221F2}"/>
              </a:ext>
            </a:extLst>
          </p:cNvPr>
          <p:cNvGraphicFramePr>
            <a:graphicFrameLocks noGrp="1"/>
          </p:cNvGraphicFramePr>
          <p:nvPr>
            <p:extLst>
              <p:ext uri="{D42A27DB-BD31-4B8C-83A1-F6EECF244321}">
                <p14:modId xmlns:p14="http://schemas.microsoft.com/office/powerpoint/2010/main" val="631640743"/>
              </p:ext>
            </p:extLst>
          </p:nvPr>
        </p:nvGraphicFramePr>
        <p:xfrm>
          <a:off x="1013552" y="506549"/>
          <a:ext cx="10410934" cy="1916611"/>
        </p:xfrm>
        <a:graphic>
          <a:graphicData uri="http://schemas.openxmlformats.org/drawingml/2006/table">
            <a:tbl>
              <a:tblPr>
                <a:tableStyleId>{35758FB7-9AC5-4552-8A53-C91805E547FA}</a:tableStyleId>
              </a:tblPr>
              <a:tblGrid>
                <a:gridCol w="1729648">
                  <a:extLst>
                    <a:ext uri="{9D8B030D-6E8A-4147-A177-3AD203B41FA5}">
                      <a16:colId xmlns:a16="http://schemas.microsoft.com/office/drawing/2014/main" val="3842374937"/>
                    </a:ext>
                  </a:extLst>
                </a:gridCol>
                <a:gridCol w="1740665">
                  <a:extLst>
                    <a:ext uri="{9D8B030D-6E8A-4147-A177-3AD203B41FA5}">
                      <a16:colId xmlns:a16="http://schemas.microsoft.com/office/drawing/2014/main" val="785010664"/>
                    </a:ext>
                  </a:extLst>
                </a:gridCol>
                <a:gridCol w="1729648">
                  <a:extLst>
                    <a:ext uri="{9D8B030D-6E8A-4147-A177-3AD203B41FA5}">
                      <a16:colId xmlns:a16="http://schemas.microsoft.com/office/drawing/2014/main" val="2955726604"/>
                    </a:ext>
                  </a:extLst>
                </a:gridCol>
                <a:gridCol w="1740665">
                  <a:extLst>
                    <a:ext uri="{9D8B030D-6E8A-4147-A177-3AD203B41FA5}">
                      <a16:colId xmlns:a16="http://schemas.microsoft.com/office/drawing/2014/main" val="1761861951"/>
                    </a:ext>
                  </a:extLst>
                </a:gridCol>
                <a:gridCol w="1740665">
                  <a:extLst>
                    <a:ext uri="{9D8B030D-6E8A-4147-A177-3AD203B41FA5}">
                      <a16:colId xmlns:a16="http://schemas.microsoft.com/office/drawing/2014/main" val="1831214673"/>
                    </a:ext>
                  </a:extLst>
                </a:gridCol>
                <a:gridCol w="1729643">
                  <a:extLst>
                    <a:ext uri="{9D8B030D-6E8A-4147-A177-3AD203B41FA5}">
                      <a16:colId xmlns:a16="http://schemas.microsoft.com/office/drawing/2014/main" val="2210094991"/>
                    </a:ext>
                  </a:extLst>
                </a:gridCol>
              </a:tblGrid>
              <a:tr h="1916611">
                <a:tc>
                  <a:txBody>
                    <a:bodyPr/>
                    <a:lstStyle/>
                    <a:p>
                      <a:pPr>
                        <a:buNone/>
                      </a:pPr>
                      <a:r>
                        <a:rPr lang="en-US" sz="18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S. Kumar, D. Singh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Cloud Based Food Ordering and Management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Cloud Computing, Web Application, Database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Data privacy and cloud storage security concerns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9772334"/>
                  </a:ext>
                </a:extLst>
              </a:tr>
            </a:tbl>
          </a:graphicData>
        </a:graphic>
      </p:graphicFrame>
      <p:graphicFrame>
        <p:nvGraphicFramePr>
          <p:cNvPr id="9" name="Table 8">
            <a:extLst>
              <a:ext uri="{FF2B5EF4-FFF2-40B4-BE49-F238E27FC236}">
                <a16:creationId xmlns:a16="http://schemas.microsoft.com/office/drawing/2014/main" id="{4A97497C-A7B3-5BF1-F676-744742C96D5E}"/>
              </a:ext>
            </a:extLst>
          </p:cNvPr>
          <p:cNvGraphicFramePr>
            <a:graphicFrameLocks noGrp="1"/>
          </p:cNvGraphicFramePr>
          <p:nvPr>
            <p:extLst>
              <p:ext uri="{D42A27DB-BD31-4B8C-83A1-F6EECF244321}">
                <p14:modId xmlns:p14="http://schemas.microsoft.com/office/powerpoint/2010/main" val="2307241481"/>
              </p:ext>
            </p:extLst>
          </p:nvPr>
        </p:nvGraphicFramePr>
        <p:xfrm>
          <a:off x="1013550" y="4434839"/>
          <a:ext cx="10410935" cy="1800708"/>
        </p:xfrm>
        <a:graphic>
          <a:graphicData uri="http://schemas.openxmlformats.org/drawingml/2006/table">
            <a:tbl>
              <a:tblPr>
                <a:tableStyleId>{35758FB7-9AC5-4552-8A53-C91805E547FA}</a:tableStyleId>
              </a:tblPr>
              <a:tblGrid>
                <a:gridCol w="1723006">
                  <a:extLst>
                    <a:ext uri="{9D8B030D-6E8A-4147-A177-3AD203B41FA5}">
                      <a16:colId xmlns:a16="http://schemas.microsoft.com/office/drawing/2014/main" val="2093226331"/>
                    </a:ext>
                  </a:extLst>
                </a:gridCol>
                <a:gridCol w="1744129">
                  <a:extLst>
                    <a:ext uri="{9D8B030D-6E8A-4147-A177-3AD203B41FA5}">
                      <a16:colId xmlns:a16="http://schemas.microsoft.com/office/drawing/2014/main" val="2924763129"/>
                    </a:ext>
                  </a:extLst>
                </a:gridCol>
                <a:gridCol w="1720549">
                  <a:extLst>
                    <a:ext uri="{9D8B030D-6E8A-4147-A177-3AD203B41FA5}">
                      <a16:colId xmlns:a16="http://schemas.microsoft.com/office/drawing/2014/main" val="1011135943"/>
                    </a:ext>
                  </a:extLst>
                </a:gridCol>
                <a:gridCol w="1744123">
                  <a:extLst>
                    <a:ext uri="{9D8B030D-6E8A-4147-A177-3AD203B41FA5}">
                      <a16:colId xmlns:a16="http://schemas.microsoft.com/office/drawing/2014/main" val="1729931822"/>
                    </a:ext>
                  </a:extLst>
                </a:gridCol>
                <a:gridCol w="1732338">
                  <a:extLst>
                    <a:ext uri="{9D8B030D-6E8A-4147-A177-3AD203B41FA5}">
                      <a16:colId xmlns:a16="http://schemas.microsoft.com/office/drawing/2014/main" val="340985728"/>
                    </a:ext>
                  </a:extLst>
                </a:gridCol>
                <a:gridCol w="1746790">
                  <a:extLst>
                    <a:ext uri="{9D8B030D-6E8A-4147-A177-3AD203B41FA5}">
                      <a16:colId xmlns:a16="http://schemas.microsoft.com/office/drawing/2014/main" val="1206430492"/>
                    </a:ext>
                  </a:extLst>
                </a:gridCol>
              </a:tblGrid>
              <a:tr h="1800708">
                <a:tc>
                  <a:txBody>
                    <a:bodyPr/>
                    <a:lstStyle/>
                    <a:p>
                      <a:pPr>
                        <a:buNone/>
                      </a:pPr>
                      <a:r>
                        <a:rPr lang="en-US"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L. Fernandez, K. Roy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2018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Queue Management System for Canteen Using Mobile App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Token Algorithm, Mobile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Cannot handle peak time heavy traffic efficiently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2979216"/>
                  </a:ext>
                </a:extLst>
              </a:tr>
            </a:tbl>
          </a:graphicData>
        </a:graphic>
      </p:graphicFrame>
    </p:spTree>
    <p:extLst>
      <p:ext uri="{BB962C8B-B14F-4D97-AF65-F5344CB8AC3E}">
        <p14:creationId xmlns:p14="http://schemas.microsoft.com/office/powerpoint/2010/main" val="5965676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25929B3-CBA7-154F-EF48-802885F3149C}"/>
              </a:ext>
            </a:extLst>
          </p:cNvPr>
          <p:cNvGraphicFramePr>
            <a:graphicFrameLocks noGrp="1"/>
          </p:cNvGraphicFramePr>
          <p:nvPr>
            <p:extLst>
              <p:ext uri="{D42A27DB-BD31-4B8C-83A1-F6EECF244321}">
                <p14:modId xmlns:p14="http://schemas.microsoft.com/office/powerpoint/2010/main" val="4126904597"/>
              </p:ext>
            </p:extLst>
          </p:nvPr>
        </p:nvGraphicFramePr>
        <p:xfrm>
          <a:off x="915310" y="308471"/>
          <a:ext cx="10361376" cy="1463040"/>
        </p:xfrm>
        <a:graphic>
          <a:graphicData uri="http://schemas.openxmlformats.org/drawingml/2006/table">
            <a:tbl>
              <a:tblPr>
                <a:tableStyleId>{35758FB7-9AC5-4552-8A53-C91805E547FA}</a:tableStyleId>
              </a:tblPr>
              <a:tblGrid>
                <a:gridCol w="1726896">
                  <a:extLst>
                    <a:ext uri="{9D8B030D-6E8A-4147-A177-3AD203B41FA5}">
                      <a16:colId xmlns:a16="http://schemas.microsoft.com/office/drawing/2014/main" val="1292115710"/>
                    </a:ext>
                  </a:extLst>
                </a:gridCol>
                <a:gridCol w="1726896">
                  <a:extLst>
                    <a:ext uri="{9D8B030D-6E8A-4147-A177-3AD203B41FA5}">
                      <a16:colId xmlns:a16="http://schemas.microsoft.com/office/drawing/2014/main" val="2277394102"/>
                    </a:ext>
                  </a:extLst>
                </a:gridCol>
                <a:gridCol w="1726896">
                  <a:extLst>
                    <a:ext uri="{9D8B030D-6E8A-4147-A177-3AD203B41FA5}">
                      <a16:colId xmlns:a16="http://schemas.microsoft.com/office/drawing/2014/main" val="1800945424"/>
                    </a:ext>
                  </a:extLst>
                </a:gridCol>
                <a:gridCol w="1726896">
                  <a:extLst>
                    <a:ext uri="{9D8B030D-6E8A-4147-A177-3AD203B41FA5}">
                      <a16:colId xmlns:a16="http://schemas.microsoft.com/office/drawing/2014/main" val="128743540"/>
                    </a:ext>
                  </a:extLst>
                </a:gridCol>
                <a:gridCol w="1726896">
                  <a:extLst>
                    <a:ext uri="{9D8B030D-6E8A-4147-A177-3AD203B41FA5}">
                      <a16:colId xmlns:a16="http://schemas.microsoft.com/office/drawing/2014/main" val="4244118767"/>
                    </a:ext>
                  </a:extLst>
                </a:gridCol>
                <a:gridCol w="1726896">
                  <a:extLst>
                    <a:ext uri="{9D8B030D-6E8A-4147-A177-3AD203B41FA5}">
                      <a16:colId xmlns:a16="http://schemas.microsoft.com/office/drawing/2014/main" val="1001956761"/>
                    </a:ext>
                  </a:extLst>
                </a:gridCol>
              </a:tblGrid>
              <a:tr h="1463040">
                <a:tc>
                  <a:txBody>
                    <a:bodyPr/>
                    <a:lstStyle/>
                    <a:p>
                      <a:pPr>
                        <a:buNone/>
                      </a:pPr>
                      <a:r>
                        <a:rPr lang="en-US" sz="18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H. Chen, Y. Lee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Web Based Smart Food Court Ordering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a:t>Web Technology, PHP, JavaScript, MySQL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Limited offline functionality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1048940"/>
                  </a:ext>
                </a:extLst>
              </a:tr>
            </a:tbl>
          </a:graphicData>
        </a:graphic>
      </p:graphicFrame>
      <p:graphicFrame>
        <p:nvGraphicFramePr>
          <p:cNvPr id="5" name="Table 4">
            <a:extLst>
              <a:ext uri="{FF2B5EF4-FFF2-40B4-BE49-F238E27FC236}">
                <a16:creationId xmlns:a16="http://schemas.microsoft.com/office/drawing/2014/main" id="{269204FB-4A73-A938-FBC6-4725B52265B6}"/>
              </a:ext>
            </a:extLst>
          </p:cNvPr>
          <p:cNvGraphicFramePr>
            <a:graphicFrameLocks noGrp="1"/>
          </p:cNvGraphicFramePr>
          <p:nvPr>
            <p:extLst>
              <p:ext uri="{D42A27DB-BD31-4B8C-83A1-F6EECF244321}">
                <p14:modId xmlns:p14="http://schemas.microsoft.com/office/powerpoint/2010/main" val="3266071881"/>
              </p:ext>
            </p:extLst>
          </p:nvPr>
        </p:nvGraphicFramePr>
        <p:xfrm>
          <a:off x="915314" y="1781978"/>
          <a:ext cx="10361370" cy="1485593"/>
        </p:xfrm>
        <a:graphic>
          <a:graphicData uri="http://schemas.openxmlformats.org/drawingml/2006/table">
            <a:tbl>
              <a:tblPr>
                <a:tableStyleId>{35758FB7-9AC5-4552-8A53-C91805E547FA}</a:tableStyleId>
              </a:tblPr>
              <a:tblGrid>
                <a:gridCol w="1726895">
                  <a:extLst>
                    <a:ext uri="{9D8B030D-6E8A-4147-A177-3AD203B41FA5}">
                      <a16:colId xmlns:a16="http://schemas.microsoft.com/office/drawing/2014/main" val="4144201432"/>
                    </a:ext>
                  </a:extLst>
                </a:gridCol>
                <a:gridCol w="1726895">
                  <a:extLst>
                    <a:ext uri="{9D8B030D-6E8A-4147-A177-3AD203B41FA5}">
                      <a16:colId xmlns:a16="http://schemas.microsoft.com/office/drawing/2014/main" val="1555216263"/>
                    </a:ext>
                  </a:extLst>
                </a:gridCol>
                <a:gridCol w="1726895">
                  <a:extLst>
                    <a:ext uri="{9D8B030D-6E8A-4147-A177-3AD203B41FA5}">
                      <a16:colId xmlns:a16="http://schemas.microsoft.com/office/drawing/2014/main" val="3701185622"/>
                    </a:ext>
                  </a:extLst>
                </a:gridCol>
                <a:gridCol w="1726895">
                  <a:extLst>
                    <a:ext uri="{9D8B030D-6E8A-4147-A177-3AD203B41FA5}">
                      <a16:colId xmlns:a16="http://schemas.microsoft.com/office/drawing/2014/main" val="2304803971"/>
                    </a:ext>
                  </a:extLst>
                </a:gridCol>
                <a:gridCol w="1726895">
                  <a:extLst>
                    <a:ext uri="{9D8B030D-6E8A-4147-A177-3AD203B41FA5}">
                      <a16:colId xmlns:a16="http://schemas.microsoft.com/office/drawing/2014/main" val="2969257722"/>
                    </a:ext>
                  </a:extLst>
                </a:gridCol>
                <a:gridCol w="1726895">
                  <a:extLst>
                    <a:ext uri="{9D8B030D-6E8A-4147-A177-3AD203B41FA5}">
                      <a16:colId xmlns:a16="http://schemas.microsoft.com/office/drawing/2014/main" val="1653493215"/>
                    </a:ext>
                  </a:extLst>
                </a:gridCol>
              </a:tblGrid>
              <a:tr h="1485593">
                <a:tc>
                  <a:txBody>
                    <a:bodyPr/>
                    <a:lstStyle/>
                    <a:p>
                      <a:pPr>
                        <a:buNone/>
                      </a:pPr>
                      <a:r>
                        <a:rPr lang="en-US" sz="180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a:t>R. Mehta, P. Shah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Automated Canteen Ordering System Using RFID 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a:t>RFID Card System, Database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Card loss or duplication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1064114"/>
                  </a:ext>
                </a:extLst>
              </a:tr>
            </a:tbl>
          </a:graphicData>
        </a:graphic>
      </p:graphicFrame>
      <p:graphicFrame>
        <p:nvGraphicFramePr>
          <p:cNvPr id="6" name="Table 5">
            <a:extLst>
              <a:ext uri="{FF2B5EF4-FFF2-40B4-BE49-F238E27FC236}">
                <a16:creationId xmlns:a16="http://schemas.microsoft.com/office/drawing/2014/main" id="{88D4947C-6CE0-2615-5148-311B8F43F338}"/>
              </a:ext>
            </a:extLst>
          </p:cNvPr>
          <p:cNvGraphicFramePr>
            <a:graphicFrameLocks noGrp="1"/>
          </p:cNvGraphicFramePr>
          <p:nvPr>
            <p:extLst>
              <p:ext uri="{D42A27DB-BD31-4B8C-83A1-F6EECF244321}">
                <p14:modId xmlns:p14="http://schemas.microsoft.com/office/powerpoint/2010/main" val="1891439856"/>
              </p:ext>
            </p:extLst>
          </p:nvPr>
        </p:nvGraphicFramePr>
        <p:xfrm>
          <a:off x="915314" y="3278039"/>
          <a:ext cx="10361370" cy="1463040"/>
        </p:xfrm>
        <a:graphic>
          <a:graphicData uri="http://schemas.openxmlformats.org/drawingml/2006/table">
            <a:tbl>
              <a:tblPr>
                <a:tableStyleId>{35758FB7-9AC5-4552-8A53-C91805E547FA}</a:tableStyleId>
              </a:tblPr>
              <a:tblGrid>
                <a:gridCol w="1726895">
                  <a:extLst>
                    <a:ext uri="{9D8B030D-6E8A-4147-A177-3AD203B41FA5}">
                      <a16:colId xmlns:a16="http://schemas.microsoft.com/office/drawing/2014/main" val="4060261677"/>
                    </a:ext>
                  </a:extLst>
                </a:gridCol>
                <a:gridCol w="1726895">
                  <a:extLst>
                    <a:ext uri="{9D8B030D-6E8A-4147-A177-3AD203B41FA5}">
                      <a16:colId xmlns:a16="http://schemas.microsoft.com/office/drawing/2014/main" val="1882144734"/>
                    </a:ext>
                  </a:extLst>
                </a:gridCol>
                <a:gridCol w="1726895">
                  <a:extLst>
                    <a:ext uri="{9D8B030D-6E8A-4147-A177-3AD203B41FA5}">
                      <a16:colId xmlns:a16="http://schemas.microsoft.com/office/drawing/2014/main" val="3011700161"/>
                    </a:ext>
                  </a:extLst>
                </a:gridCol>
                <a:gridCol w="1726895">
                  <a:extLst>
                    <a:ext uri="{9D8B030D-6E8A-4147-A177-3AD203B41FA5}">
                      <a16:colId xmlns:a16="http://schemas.microsoft.com/office/drawing/2014/main" val="90231253"/>
                    </a:ext>
                  </a:extLst>
                </a:gridCol>
                <a:gridCol w="1726895">
                  <a:extLst>
                    <a:ext uri="{9D8B030D-6E8A-4147-A177-3AD203B41FA5}">
                      <a16:colId xmlns:a16="http://schemas.microsoft.com/office/drawing/2014/main" val="2719973578"/>
                    </a:ext>
                  </a:extLst>
                </a:gridCol>
                <a:gridCol w="1726895">
                  <a:extLst>
                    <a:ext uri="{9D8B030D-6E8A-4147-A177-3AD203B41FA5}">
                      <a16:colId xmlns:a16="http://schemas.microsoft.com/office/drawing/2014/main" val="2318888529"/>
                    </a:ext>
                  </a:extLst>
                </a:gridCol>
              </a:tblGrid>
              <a:tr h="1463040">
                <a:tc>
                  <a:txBody>
                    <a:bodyPr/>
                    <a:lstStyle/>
                    <a:p>
                      <a:pPr>
                        <a:buNone/>
                      </a:pPr>
                      <a:r>
                        <a:rPr lang="en-US" sz="1800"/>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a:t>S. Thomas, J. Mathew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E-Canteen: Online Food Pre-Ordering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a:t>Web Portal, Payment Gateway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t>Payment failure and transaction delay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5818883"/>
                  </a:ext>
                </a:extLst>
              </a:tr>
            </a:tbl>
          </a:graphicData>
        </a:graphic>
      </p:graphicFrame>
      <p:graphicFrame>
        <p:nvGraphicFramePr>
          <p:cNvPr id="7" name="Table 6">
            <a:extLst>
              <a:ext uri="{FF2B5EF4-FFF2-40B4-BE49-F238E27FC236}">
                <a16:creationId xmlns:a16="http://schemas.microsoft.com/office/drawing/2014/main" id="{531EC12F-C928-2645-4F15-2B4FEB9A900B}"/>
              </a:ext>
            </a:extLst>
          </p:cNvPr>
          <p:cNvGraphicFramePr>
            <a:graphicFrameLocks noGrp="1"/>
          </p:cNvGraphicFramePr>
          <p:nvPr>
            <p:extLst>
              <p:ext uri="{D42A27DB-BD31-4B8C-83A1-F6EECF244321}">
                <p14:modId xmlns:p14="http://schemas.microsoft.com/office/powerpoint/2010/main" val="3578611660"/>
              </p:ext>
            </p:extLst>
          </p:nvPr>
        </p:nvGraphicFramePr>
        <p:xfrm>
          <a:off x="915311" y="4751547"/>
          <a:ext cx="10361370" cy="1485593"/>
        </p:xfrm>
        <a:graphic>
          <a:graphicData uri="http://schemas.openxmlformats.org/drawingml/2006/table">
            <a:tbl>
              <a:tblPr>
                <a:tableStyleId>{35758FB7-9AC5-4552-8A53-C91805E547FA}</a:tableStyleId>
              </a:tblPr>
              <a:tblGrid>
                <a:gridCol w="1726895">
                  <a:extLst>
                    <a:ext uri="{9D8B030D-6E8A-4147-A177-3AD203B41FA5}">
                      <a16:colId xmlns:a16="http://schemas.microsoft.com/office/drawing/2014/main" val="3223221013"/>
                    </a:ext>
                  </a:extLst>
                </a:gridCol>
                <a:gridCol w="1726895">
                  <a:extLst>
                    <a:ext uri="{9D8B030D-6E8A-4147-A177-3AD203B41FA5}">
                      <a16:colId xmlns:a16="http://schemas.microsoft.com/office/drawing/2014/main" val="2967154901"/>
                    </a:ext>
                  </a:extLst>
                </a:gridCol>
                <a:gridCol w="1726895">
                  <a:extLst>
                    <a:ext uri="{9D8B030D-6E8A-4147-A177-3AD203B41FA5}">
                      <a16:colId xmlns:a16="http://schemas.microsoft.com/office/drawing/2014/main" val="1610137461"/>
                    </a:ext>
                  </a:extLst>
                </a:gridCol>
                <a:gridCol w="1726895">
                  <a:extLst>
                    <a:ext uri="{9D8B030D-6E8A-4147-A177-3AD203B41FA5}">
                      <a16:colId xmlns:a16="http://schemas.microsoft.com/office/drawing/2014/main" val="2548879787"/>
                    </a:ext>
                  </a:extLst>
                </a:gridCol>
                <a:gridCol w="1726895">
                  <a:extLst>
                    <a:ext uri="{9D8B030D-6E8A-4147-A177-3AD203B41FA5}">
                      <a16:colId xmlns:a16="http://schemas.microsoft.com/office/drawing/2014/main" val="2116606712"/>
                    </a:ext>
                  </a:extLst>
                </a:gridCol>
                <a:gridCol w="1726895">
                  <a:extLst>
                    <a:ext uri="{9D8B030D-6E8A-4147-A177-3AD203B41FA5}">
                      <a16:colId xmlns:a16="http://schemas.microsoft.com/office/drawing/2014/main" val="3810284311"/>
                    </a:ext>
                  </a:extLst>
                </a:gridCol>
              </a:tblGrid>
              <a:tr h="1485593">
                <a:tc>
                  <a:txBody>
                    <a:bodyPr/>
                    <a:lstStyle/>
                    <a:p>
                      <a:pPr>
                        <a:buNone/>
                      </a:pPr>
                      <a:r>
                        <a:rPr lang="en-US"/>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K. Banerjee, A. Dutta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AI Based Food Recommendation and Ordering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Artificial Intelligence, Machine Learning, Data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Requires large dataset for accurate recommendation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59737"/>
                  </a:ext>
                </a:extLst>
              </a:tr>
            </a:tbl>
          </a:graphicData>
        </a:graphic>
      </p:graphicFrame>
    </p:spTree>
    <p:extLst>
      <p:ext uri="{BB962C8B-B14F-4D97-AF65-F5344CB8AC3E}">
        <p14:creationId xmlns:p14="http://schemas.microsoft.com/office/powerpoint/2010/main" val="287190080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0E645-F909-6A0C-CBD5-292E20BA53BB}"/>
              </a:ext>
            </a:extLst>
          </p:cNvPr>
          <p:cNvSpPr>
            <a:spLocks noGrp="1"/>
          </p:cNvSpPr>
          <p:nvPr>
            <p:ph type="title"/>
          </p:nvPr>
        </p:nvSpPr>
        <p:spPr>
          <a:xfrm>
            <a:off x="4465962" y="247880"/>
            <a:ext cx="3260075" cy="637410"/>
          </a:xfrm>
        </p:spPr>
        <p:txBody>
          <a:bodyPr>
            <a:normAutofit/>
          </a:bodyPr>
          <a:lstStyle/>
          <a:p>
            <a:pPr algn="ctr"/>
            <a:r>
              <a:rPr lang="en-US" sz="2800" b="1" dirty="0">
                <a:solidFill>
                  <a:schemeClr val="accent2">
                    <a:lumMod val="60000"/>
                    <a:lumOff val="40000"/>
                  </a:schemeClr>
                </a:solidFill>
                <a:latin typeface="Bodoni MT" panose="02070603080606020203" pitchFamily="18" charset="0"/>
              </a:rPr>
              <a:t>ER DIAGRAM</a:t>
            </a:r>
          </a:p>
        </p:txBody>
      </p:sp>
      <p:pic>
        <p:nvPicPr>
          <p:cNvPr id="5" name="Content Placeholder 4">
            <a:extLst>
              <a:ext uri="{FF2B5EF4-FFF2-40B4-BE49-F238E27FC236}">
                <a16:creationId xmlns:a16="http://schemas.microsoft.com/office/drawing/2014/main" id="{AA952B4F-C822-58D4-C4FF-3B7818D22F83}"/>
              </a:ext>
            </a:extLst>
          </p:cNvPr>
          <p:cNvPicPr>
            <a:picLocks noGrp="1" noChangeAspect="1"/>
          </p:cNvPicPr>
          <p:nvPr>
            <p:ph idx="1"/>
          </p:nvPr>
        </p:nvPicPr>
        <p:blipFill>
          <a:blip r:embed="rId2"/>
          <a:stretch>
            <a:fillRect/>
          </a:stretch>
        </p:blipFill>
        <p:spPr>
          <a:xfrm>
            <a:off x="914401" y="885290"/>
            <a:ext cx="10388906" cy="5724830"/>
          </a:xfrm>
          <a:prstGeom prst="rect">
            <a:avLst/>
          </a:prstGeom>
        </p:spPr>
      </p:pic>
    </p:spTree>
    <p:extLst>
      <p:ext uri="{BB962C8B-B14F-4D97-AF65-F5344CB8AC3E}">
        <p14:creationId xmlns:p14="http://schemas.microsoft.com/office/powerpoint/2010/main" val="53684225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48AFE3-9139-4D04-5656-FFA29F36CD2E}"/>
              </a:ext>
            </a:extLst>
          </p:cNvPr>
          <p:cNvSpPr>
            <a:spLocks noGrp="1"/>
          </p:cNvSpPr>
          <p:nvPr>
            <p:ph idx="1"/>
          </p:nvPr>
        </p:nvSpPr>
        <p:spPr>
          <a:xfrm>
            <a:off x="859316" y="209320"/>
            <a:ext cx="10069418" cy="6544020"/>
          </a:xfrm>
        </p:spPr>
        <p:txBody>
          <a:bodyPr numCol="1">
            <a:normAutofit fontScale="47500" lnSpcReduction="20000"/>
          </a:bodyPr>
          <a:lstStyle/>
          <a:p>
            <a:pPr marL="0" indent="0">
              <a:buNone/>
            </a:pPr>
            <a:r>
              <a:rPr lang="en-US" sz="5100" b="1" dirty="0">
                <a:solidFill>
                  <a:schemeClr val="accent2">
                    <a:lumMod val="60000"/>
                    <a:lumOff val="40000"/>
                  </a:schemeClr>
                </a:solidFill>
                <a:latin typeface="Bodoni MT" panose="02070603080606020203" pitchFamily="18" charset="0"/>
              </a:rPr>
              <a:t>Functional Requirements (FR) </a:t>
            </a:r>
          </a:p>
          <a:p>
            <a:pPr marL="0" indent="0" algn="just">
              <a:buNone/>
            </a:pPr>
            <a:endParaRPr lang="en-US" sz="3700" dirty="0">
              <a:solidFill>
                <a:schemeClr val="bg1"/>
              </a:solidFill>
            </a:endParaRPr>
          </a:p>
          <a:p>
            <a:pPr marL="0" indent="0" algn="just">
              <a:buNone/>
            </a:pPr>
            <a:r>
              <a:rPr lang="en-US" sz="4400" b="1" dirty="0">
                <a:solidFill>
                  <a:schemeClr val="bg1"/>
                </a:solidFill>
                <a:latin typeface="Aparajita" panose="02020603050405020304" pitchFamily="18" charset="0"/>
                <a:cs typeface="Aparajita" panose="02020603050405020304" pitchFamily="18" charset="0"/>
              </a:rPr>
              <a:t>1. User Login &amp; Registration </a:t>
            </a:r>
          </a:p>
          <a:p>
            <a:pPr lvl="1" algn="just">
              <a:buFont typeface="Wingdings" panose="05000000000000000000" pitchFamily="2" charset="2"/>
              <a:buChar char="§"/>
            </a:pPr>
            <a:r>
              <a:rPr lang="en-US" sz="3200" dirty="0">
                <a:solidFill>
                  <a:schemeClr val="bg1"/>
                </a:solidFill>
                <a:latin typeface="Times New Roman" panose="02020603050405020304" pitchFamily="18" charset="0"/>
                <a:cs typeface="Times New Roman" panose="02020603050405020304" pitchFamily="18" charset="0"/>
              </a:rPr>
              <a:t>Allows users to register and log in using ID, phone number, or email. </a:t>
            </a:r>
          </a:p>
          <a:p>
            <a:pPr lvl="1" algn="just">
              <a:buFont typeface="Wingdings" panose="05000000000000000000" pitchFamily="2" charset="2"/>
              <a:buChar char="§"/>
            </a:pPr>
            <a:r>
              <a:rPr lang="en-US" sz="3200" dirty="0">
                <a:solidFill>
                  <a:schemeClr val="bg1"/>
                </a:solidFill>
                <a:latin typeface="Times New Roman" panose="02020603050405020304" pitchFamily="18" charset="0"/>
                <a:cs typeface="Times New Roman" panose="02020603050405020304" pitchFamily="18" charset="0"/>
              </a:rPr>
              <a:t>Supports different roles such as Admin, Canteen Staff, and Customer.</a:t>
            </a:r>
          </a:p>
          <a:p>
            <a:pPr marL="0" indent="0" algn="just">
              <a:buNone/>
            </a:pPr>
            <a:r>
              <a:rPr lang="en-US" sz="4400" b="1" dirty="0">
                <a:solidFill>
                  <a:schemeClr val="bg1"/>
                </a:solidFill>
                <a:latin typeface="Aparajita" panose="02020603050405020304" pitchFamily="18" charset="0"/>
                <a:cs typeface="Aparajita" panose="02020603050405020304" pitchFamily="18" charset="0"/>
              </a:rPr>
              <a:t> </a:t>
            </a:r>
          </a:p>
          <a:p>
            <a:pPr marL="0" indent="0" algn="just">
              <a:buNone/>
            </a:pPr>
            <a:r>
              <a:rPr lang="en-US" sz="4400" b="1" dirty="0">
                <a:solidFill>
                  <a:schemeClr val="bg1"/>
                </a:solidFill>
                <a:latin typeface="Aparajita" panose="02020603050405020304" pitchFamily="18" charset="0"/>
                <a:cs typeface="Aparajita" panose="02020603050405020304" pitchFamily="18" charset="0"/>
              </a:rPr>
              <a:t>2. Menu Management </a:t>
            </a:r>
          </a:p>
          <a:p>
            <a:pPr lvl="1" algn="just">
              <a:buFont typeface="Wingdings" panose="05000000000000000000" pitchFamily="2" charset="2"/>
              <a:buChar char="§"/>
            </a:pPr>
            <a:r>
              <a:rPr lang="en-US" sz="3200" dirty="0">
                <a:solidFill>
                  <a:schemeClr val="bg1"/>
                </a:solidFill>
                <a:latin typeface="Times New Roman" panose="02020603050405020304" pitchFamily="18" charset="0"/>
                <a:cs typeface="Times New Roman" panose="02020603050405020304" pitchFamily="18" charset="0"/>
              </a:rPr>
              <a:t>Admin can add, update, or remove food items. </a:t>
            </a:r>
          </a:p>
          <a:p>
            <a:pPr lvl="1" algn="just">
              <a:buFont typeface="Wingdings" panose="05000000000000000000" pitchFamily="2" charset="2"/>
              <a:buChar char="§"/>
            </a:pPr>
            <a:r>
              <a:rPr lang="en-US" sz="3200" dirty="0">
                <a:solidFill>
                  <a:schemeClr val="bg1"/>
                </a:solidFill>
                <a:latin typeface="Times New Roman" panose="02020603050405020304" pitchFamily="18" charset="0"/>
                <a:cs typeface="Times New Roman" panose="02020603050405020304" pitchFamily="18" charset="0"/>
              </a:rPr>
              <a:t>Each item includes name, price, image, availability, and category. </a:t>
            </a:r>
          </a:p>
          <a:p>
            <a:pPr marL="0" indent="0" algn="just">
              <a:buNone/>
            </a:pPr>
            <a:endParaRPr lang="en-US" sz="3700" dirty="0">
              <a:solidFill>
                <a:schemeClr val="bg1"/>
              </a:solidFill>
              <a:latin typeface="Aparajita" panose="02020603050405020304" pitchFamily="18" charset="0"/>
              <a:cs typeface="Aparajita" panose="02020603050405020304" pitchFamily="18" charset="0"/>
            </a:endParaRPr>
          </a:p>
          <a:p>
            <a:pPr marL="0" indent="0" algn="just">
              <a:buNone/>
            </a:pPr>
            <a:r>
              <a:rPr lang="en-US" sz="4400" b="1" dirty="0">
                <a:solidFill>
                  <a:schemeClr val="bg1"/>
                </a:solidFill>
                <a:latin typeface="Aparajita" panose="02020603050405020304" pitchFamily="18" charset="0"/>
                <a:cs typeface="Aparajita" panose="02020603050405020304" pitchFamily="18" charset="0"/>
              </a:rPr>
              <a:t>3. View Menu &amp; Availability </a:t>
            </a:r>
          </a:p>
          <a:p>
            <a:pPr lvl="1" algn="just">
              <a:buFont typeface="Wingdings" panose="05000000000000000000" pitchFamily="2" charset="2"/>
              <a:buChar char="§"/>
            </a:pPr>
            <a:r>
              <a:rPr lang="en-US" sz="3200" dirty="0">
                <a:solidFill>
                  <a:schemeClr val="bg1"/>
                </a:solidFill>
                <a:latin typeface="Times New Roman" panose="02020603050405020304" pitchFamily="18" charset="0"/>
                <a:cs typeface="Times New Roman" panose="02020603050405020304" pitchFamily="18" charset="0"/>
              </a:rPr>
              <a:t>Users can view the food menu. </a:t>
            </a:r>
          </a:p>
          <a:p>
            <a:pPr lvl="1" algn="just">
              <a:buFont typeface="Wingdings" panose="05000000000000000000" pitchFamily="2" charset="2"/>
              <a:buChar char="§"/>
            </a:pPr>
            <a:r>
              <a:rPr lang="en-US" sz="3200" dirty="0">
                <a:solidFill>
                  <a:schemeClr val="bg1"/>
                </a:solidFill>
                <a:latin typeface="Times New Roman" panose="02020603050405020304" pitchFamily="18" charset="0"/>
                <a:cs typeface="Times New Roman" panose="02020603050405020304" pitchFamily="18" charset="0"/>
              </a:rPr>
              <a:t>Shows available / unavailable food items in real time. </a:t>
            </a:r>
          </a:p>
          <a:p>
            <a:pPr marL="0" indent="0" algn="just">
              <a:buNone/>
            </a:pPr>
            <a:endParaRPr lang="en-US" dirty="0">
              <a:solidFill>
                <a:schemeClr val="bg1"/>
              </a:solidFill>
              <a:latin typeface="Aparajita" panose="02020603050405020304" pitchFamily="18" charset="0"/>
              <a:cs typeface="Aparajita" panose="02020603050405020304" pitchFamily="18" charset="0"/>
            </a:endParaRPr>
          </a:p>
          <a:p>
            <a:pPr marL="0" indent="0" algn="just">
              <a:buNone/>
            </a:pPr>
            <a:r>
              <a:rPr lang="en-US" sz="4400" b="1" dirty="0">
                <a:solidFill>
                  <a:schemeClr val="bg1"/>
                </a:solidFill>
                <a:latin typeface="Aparajita" panose="02020603050405020304" pitchFamily="18" charset="0"/>
                <a:cs typeface="Aparajita" panose="02020603050405020304" pitchFamily="18" charset="0"/>
              </a:rPr>
              <a:t>4. Food Preorder </a:t>
            </a:r>
          </a:p>
          <a:p>
            <a:pPr lvl="1" algn="just">
              <a:buFont typeface="Wingdings" panose="05000000000000000000" pitchFamily="2" charset="2"/>
              <a:buChar char="§"/>
            </a:pPr>
            <a:r>
              <a:rPr lang="en-US" sz="3200" dirty="0">
                <a:solidFill>
                  <a:schemeClr val="bg1"/>
                </a:solidFill>
                <a:latin typeface="Times New Roman" panose="02020603050405020304" pitchFamily="18" charset="0"/>
                <a:cs typeface="Times New Roman" panose="02020603050405020304" pitchFamily="18" charset="0"/>
              </a:rPr>
              <a:t>Users can select food items and place orders in advance. </a:t>
            </a:r>
          </a:p>
          <a:p>
            <a:pPr lvl="1" algn="just">
              <a:buFont typeface="Wingdings" panose="05000000000000000000" pitchFamily="2" charset="2"/>
              <a:buChar char="§"/>
            </a:pPr>
            <a:r>
              <a:rPr lang="en-US" sz="3200" dirty="0">
                <a:solidFill>
                  <a:schemeClr val="bg1"/>
                </a:solidFill>
                <a:latin typeface="Times New Roman" panose="02020603050405020304" pitchFamily="18" charset="0"/>
                <a:cs typeface="Times New Roman" panose="02020603050405020304" pitchFamily="18" charset="0"/>
              </a:rPr>
              <a:t>Allows selecting quantity and pickup time. </a:t>
            </a:r>
          </a:p>
          <a:p>
            <a:pPr marL="0" indent="0" algn="just">
              <a:buNone/>
            </a:pPr>
            <a:endParaRPr lang="en-US" dirty="0">
              <a:solidFill>
                <a:schemeClr val="bg1"/>
              </a:solidFill>
              <a:latin typeface="Aparajita" panose="02020603050405020304" pitchFamily="18" charset="0"/>
              <a:cs typeface="Aparajita" panose="02020603050405020304" pitchFamily="18" charset="0"/>
            </a:endParaRPr>
          </a:p>
          <a:p>
            <a:pPr marL="0" indent="0" algn="just">
              <a:buNone/>
            </a:pPr>
            <a:r>
              <a:rPr lang="en-US" sz="4400" b="1" dirty="0">
                <a:solidFill>
                  <a:schemeClr val="bg1"/>
                </a:solidFill>
                <a:latin typeface="Aparajita" panose="02020603050405020304" pitchFamily="18" charset="0"/>
                <a:cs typeface="Aparajita" panose="02020603050405020304" pitchFamily="18" charset="0"/>
              </a:rPr>
              <a:t>5. Order Confirmation </a:t>
            </a:r>
          </a:p>
          <a:p>
            <a:pPr lvl="1" algn="just">
              <a:buFont typeface="Wingdings" panose="05000000000000000000" pitchFamily="2" charset="2"/>
              <a:buChar char="§"/>
            </a:pPr>
            <a:r>
              <a:rPr lang="en-US" sz="3600" dirty="0">
                <a:solidFill>
                  <a:schemeClr val="bg1"/>
                </a:solidFill>
                <a:latin typeface="Times New Roman" panose="02020603050405020304" pitchFamily="18" charset="0"/>
                <a:cs typeface="Times New Roman" panose="02020603050405020304" pitchFamily="18" charset="0"/>
              </a:rPr>
              <a:t>System generates order ID after successful order. </a:t>
            </a:r>
          </a:p>
          <a:p>
            <a:pPr lvl="1" algn="just">
              <a:buFont typeface="Wingdings" panose="05000000000000000000" pitchFamily="2" charset="2"/>
              <a:buChar char="§"/>
            </a:pPr>
            <a:r>
              <a:rPr lang="en-US" sz="3600" dirty="0">
                <a:solidFill>
                  <a:schemeClr val="bg1"/>
                </a:solidFill>
                <a:latin typeface="Times New Roman" panose="02020603050405020304" pitchFamily="18" charset="0"/>
                <a:cs typeface="Times New Roman" panose="02020603050405020304" pitchFamily="18" charset="0"/>
              </a:rPr>
              <a:t>Displays order summary and total amount. </a:t>
            </a:r>
          </a:p>
        </p:txBody>
      </p:sp>
    </p:spTree>
    <p:extLst>
      <p:ext uri="{BB962C8B-B14F-4D97-AF65-F5344CB8AC3E}">
        <p14:creationId xmlns:p14="http://schemas.microsoft.com/office/powerpoint/2010/main" val="22061531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996EE4-86B3-BA0E-F269-6ECD1245929E}"/>
              </a:ext>
            </a:extLst>
          </p:cNvPr>
          <p:cNvSpPr>
            <a:spLocks noGrp="1"/>
          </p:cNvSpPr>
          <p:nvPr>
            <p:ph idx="1"/>
          </p:nvPr>
        </p:nvSpPr>
        <p:spPr>
          <a:xfrm>
            <a:off x="936434" y="187287"/>
            <a:ext cx="8174515" cy="6670713"/>
          </a:xfrm>
        </p:spPr>
        <p:txBody>
          <a:bodyPr>
            <a:normAutofit fontScale="70000" lnSpcReduction="20000"/>
          </a:bodyPr>
          <a:lstStyle/>
          <a:p>
            <a:pPr marL="0" indent="0" algn="just">
              <a:buNone/>
            </a:pPr>
            <a:r>
              <a:rPr lang="en-US" sz="3700" b="1" dirty="0">
                <a:solidFill>
                  <a:schemeClr val="bg1"/>
                </a:solidFill>
                <a:latin typeface="Aparajita" panose="02020603050405020304" pitchFamily="18" charset="0"/>
                <a:cs typeface="Aparajita" panose="02020603050405020304" pitchFamily="18" charset="0"/>
              </a:rPr>
              <a:t>6. Payment Processing </a:t>
            </a:r>
          </a:p>
          <a:p>
            <a:pPr lvl="1" algn="just">
              <a:buFont typeface="Wingdings" panose="05000000000000000000" pitchFamily="2" charset="2"/>
              <a:buChar char="§"/>
            </a:pPr>
            <a:r>
              <a:rPr lang="en-US" sz="2600" dirty="0">
                <a:solidFill>
                  <a:schemeClr val="bg1"/>
                </a:solidFill>
                <a:latin typeface="Times New Roman" panose="02020603050405020304" pitchFamily="18" charset="0"/>
                <a:cs typeface="Times New Roman" panose="02020603050405020304" pitchFamily="18" charset="0"/>
              </a:rPr>
              <a:t> Supports online payment / cash on pickup (as configured)</a:t>
            </a:r>
          </a:p>
          <a:p>
            <a:pPr lvl="1" algn="just">
              <a:buFont typeface="Wingdings" panose="05000000000000000000" pitchFamily="2" charset="2"/>
              <a:buChar char="§"/>
            </a:pPr>
            <a:r>
              <a:rPr lang="en-US" sz="2600" dirty="0">
                <a:solidFill>
                  <a:schemeClr val="bg1"/>
                </a:solidFill>
                <a:latin typeface="Times New Roman" panose="02020603050405020304" pitchFamily="18" charset="0"/>
                <a:cs typeface="Times New Roman" panose="02020603050405020304" pitchFamily="18" charset="0"/>
              </a:rPr>
              <a:t> Confirms payment status for each order. </a:t>
            </a:r>
          </a:p>
          <a:p>
            <a:pPr marL="457200" lvl="1" indent="0" algn="just">
              <a:buNone/>
            </a:pPr>
            <a:endParaRPr lang="en-US" sz="26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3700" b="1" dirty="0">
                <a:solidFill>
                  <a:schemeClr val="bg1"/>
                </a:solidFill>
                <a:latin typeface="Aparajita" panose="02020603050405020304" pitchFamily="18" charset="0"/>
                <a:cs typeface="Aparajita" panose="02020603050405020304" pitchFamily="18" charset="0"/>
              </a:rPr>
              <a:t>7. Order Status Tracking </a:t>
            </a:r>
          </a:p>
          <a:p>
            <a:pPr lvl="1" algn="just">
              <a:buFont typeface="Wingdings" panose="05000000000000000000" pitchFamily="2" charset="2"/>
              <a:buChar char="§"/>
            </a:pPr>
            <a:r>
              <a:rPr lang="en-US" sz="2000" dirty="0">
                <a:solidFill>
                  <a:schemeClr val="bg1"/>
                </a:solidFill>
                <a:latin typeface="Times New Roman" panose="02020603050405020304" pitchFamily="18" charset="0"/>
                <a:cs typeface="Times New Roman" panose="02020603050405020304" pitchFamily="18" charset="0"/>
              </a:rPr>
              <a:t>Users can track order status: </a:t>
            </a:r>
          </a:p>
          <a:p>
            <a:pPr lvl="2" algn="just">
              <a:buFont typeface="Wingdings" panose="05000000000000000000" pitchFamily="2" charset="2"/>
              <a:buChar char="ü"/>
            </a:pPr>
            <a:r>
              <a:rPr lang="en-US" sz="2200" dirty="0">
                <a:solidFill>
                  <a:schemeClr val="bg1"/>
                </a:solidFill>
                <a:latin typeface="Times New Roman" panose="02020603050405020304" pitchFamily="18" charset="0"/>
                <a:cs typeface="Times New Roman" panose="02020603050405020304" pitchFamily="18" charset="0"/>
              </a:rPr>
              <a:t>Pending </a:t>
            </a:r>
          </a:p>
          <a:p>
            <a:pPr lvl="2" algn="just">
              <a:buFont typeface="Wingdings" panose="05000000000000000000" pitchFamily="2" charset="2"/>
              <a:buChar char="ü"/>
            </a:pPr>
            <a:r>
              <a:rPr lang="en-US" sz="2200" dirty="0">
                <a:solidFill>
                  <a:schemeClr val="bg1"/>
                </a:solidFill>
                <a:latin typeface="Times New Roman" panose="02020603050405020304" pitchFamily="18" charset="0"/>
                <a:cs typeface="Times New Roman" panose="02020603050405020304" pitchFamily="18" charset="0"/>
              </a:rPr>
              <a:t> Preparing </a:t>
            </a:r>
          </a:p>
          <a:p>
            <a:pPr lvl="2" algn="just">
              <a:buFont typeface="Wingdings" panose="05000000000000000000" pitchFamily="2" charset="2"/>
              <a:buChar char="ü"/>
            </a:pPr>
            <a:r>
              <a:rPr lang="en-US" sz="2200" dirty="0">
                <a:solidFill>
                  <a:schemeClr val="bg1"/>
                </a:solidFill>
                <a:latin typeface="Times New Roman" panose="02020603050405020304" pitchFamily="18" charset="0"/>
                <a:cs typeface="Times New Roman" panose="02020603050405020304" pitchFamily="18" charset="0"/>
              </a:rPr>
              <a:t> Ready for Pickup </a:t>
            </a:r>
          </a:p>
          <a:p>
            <a:pPr marL="914400" lvl="2" indent="0" algn="just">
              <a:buNone/>
            </a:pPr>
            <a:endParaRPr lang="en-US" sz="22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3700" b="1" dirty="0">
                <a:solidFill>
                  <a:schemeClr val="bg1"/>
                </a:solidFill>
                <a:latin typeface="Aparajita" panose="02020603050405020304" pitchFamily="18" charset="0"/>
                <a:cs typeface="Aparajita" panose="02020603050405020304" pitchFamily="18" charset="0"/>
              </a:rPr>
              <a:t>8. Order History </a:t>
            </a:r>
          </a:p>
          <a:p>
            <a:pPr lvl="1" algn="just">
              <a:buFont typeface="Wingdings" panose="05000000000000000000" pitchFamily="2" charset="2"/>
              <a:buChar char="§"/>
            </a:pPr>
            <a:r>
              <a:rPr lang="en-US" sz="2600" dirty="0">
                <a:solidFill>
                  <a:schemeClr val="bg1"/>
                </a:solidFill>
                <a:latin typeface="Times New Roman" panose="02020603050405020304" pitchFamily="18" charset="0"/>
                <a:cs typeface="Times New Roman" panose="02020603050405020304" pitchFamily="18" charset="0"/>
              </a:rPr>
              <a:t>Users can view previous orders and order details. </a:t>
            </a:r>
          </a:p>
          <a:p>
            <a:pPr lvl="1" algn="just">
              <a:buFont typeface="Wingdings" panose="05000000000000000000" pitchFamily="2" charset="2"/>
              <a:buChar char="§"/>
            </a:pPr>
            <a:r>
              <a:rPr lang="en-US" sz="2600" dirty="0">
                <a:solidFill>
                  <a:schemeClr val="bg1"/>
                </a:solidFill>
                <a:latin typeface="Times New Roman" panose="02020603050405020304" pitchFamily="18" charset="0"/>
                <a:cs typeface="Times New Roman" panose="02020603050405020304" pitchFamily="18" charset="0"/>
              </a:rPr>
              <a:t> Helps in reordering frequently used items.</a:t>
            </a:r>
          </a:p>
          <a:p>
            <a:pPr marL="457200" lvl="1" indent="0" algn="just">
              <a:buNone/>
            </a:pPr>
            <a:endParaRPr lang="en-US" sz="26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3700" b="1" dirty="0">
                <a:solidFill>
                  <a:schemeClr val="bg1"/>
                </a:solidFill>
                <a:latin typeface="Aparajita" panose="02020603050405020304" pitchFamily="18" charset="0"/>
                <a:cs typeface="Aparajita" panose="02020603050405020304" pitchFamily="18" charset="0"/>
              </a:rPr>
              <a:t> 9. Notifications &amp; Alerts </a:t>
            </a:r>
          </a:p>
          <a:p>
            <a:pPr lvl="1" algn="just">
              <a:buFont typeface="Wingdings" panose="05000000000000000000" pitchFamily="2" charset="2"/>
              <a:buChar char="§"/>
            </a:pPr>
            <a:r>
              <a:rPr lang="en-US" sz="2600" dirty="0">
                <a:solidFill>
                  <a:schemeClr val="bg1"/>
                </a:solidFill>
                <a:latin typeface="Times New Roman" panose="02020603050405020304" pitchFamily="18" charset="0"/>
                <a:cs typeface="Times New Roman" panose="02020603050405020304" pitchFamily="18" charset="0"/>
              </a:rPr>
              <a:t>Sends notifications for:</a:t>
            </a:r>
          </a:p>
          <a:p>
            <a:pPr lvl="2" algn="just">
              <a:buFont typeface="Wingdings" panose="05000000000000000000" pitchFamily="2" charset="2"/>
              <a:buChar char="ü"/>
            </a:pPr>
            <a:r>
              <a:rPr lang="en-US" sz="2200" dirty="0">
                <a:solidFill>
                  <a:schemeClr val="bg1"/>
                </a:solidFill>
                <a:latin typeface="Times New Roman" panose="02020603050405020304" pitchFamily="18" charset="0"/>
                <a:cs typeface="Times New Roman" panose="02020603050405020304" pitchFamily="18" charset="0"/>
              </a:rPr>
              <a:t>Order confirmation </a:t>
            </a:r>
          </a:p>
          <a:p>
            <a:pPr lvl="2" algn="just">
              <a:buFont typeface="Wingdings" panose="05000000000000000000" pitchFamily="2" charset="2"/>
              <a:buChar char="ü"/>
            </a:pPr>
            <a:r>
              <a:rPr lang="en-US" sz="2200" dirty="0">
                <a:solidFill>
                  <a:schemeClr val="bg1"/>
                </a:solidFill>
                <a:latin typeface="Times New Roman" panose="02020603050405020304" pitchFamily="18" charset="0"/>
                <a:cs typeface="Times New Roman" panose="02020603050405020304" pitchFamily="18" charset="0"/>
              </a:rPr>
              <a:t>Order ready message </a:t>
            </a:r>
          </a:p>
          <a:p>
            <a:pPr lvl="2" algn="just">
              <a:buFont typeface="Wingdings" panose="05000000000000000000" pitchFamily="2" charset="2"/>
              <a:buChar char="ü"/>
            </a:pPr>
            <a:r>
              <a:rPr lang="en-US" sz="2200" b="1" dirty="0">
                <a:solidFill>
                  <a:schemeClr val="bg1"/>
                </a:solidFill>
                <a:latin typeface="Times New Roman" panose="02020603050405020304" pitchFamily="18" charset="0"/>
                <a:cs typeface="Times New Roman" panose="02020603050405020304" pitchFamily="18" charset="0"/>
              </a:rPr>
              <a:t>Order cancellation </a:t>
            </a:r>
          </a:p>
          <a:p>
            <a:pPr marL="914400" lvl="2" indent="0" algn="just">
              <a:buNone/>
            </a:pPr>
            <a:endParaRPr lang="en-US" sz="22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4200" b="1" dirty="0">
                <a:solidFill>
                  <a:schemeClr val="bg1"/>
                </a:solidFill>
                <a:latin typeface="Aparajita" panose="02020603050405020304" pitchFamily="18" charset="0"/>
                <a:cs typeface="Aparajita" panose="02020603050405020304" pitchFamily="18" charset="0"/>
              </a:rPr>
              <a:t>10. Admin Reports </a:t>
            </a:r>
          </a:p>
          <a:p>
            <a:pPr lvl="1" algn="just">
              <a:buFont typeface="Wingdings" panose="05000000000000000000" pitchFamily="2" charset="2"/>
              <a:buChar char="§"/>
            </a:pPr>
            <a:r>
              <a:rPr lang="en-US" sz="2600" dirty="0">
                <a:solidFill>
                  <a:schemeClr val="bg1"/>
                </a:solidFill>
                <a:latin typeface="Times New Roman" panose="02020603050405020304" pitchFamily="18" charset="0"/>
                <a:cs typeface="Times New Roman" panose="02020603050405020304" pitchFamily="18" charset="0"/>
              </a:rPr>
              <a:t>Admin can view daily sales, popular items, and total orders. </a:t>
            </a:r>
          </a:p>
          <a:p>
            <a:pPr lvl="1" algn="just">
              <a:buFont typeface="Wingdings" panose="05000000000000000000" pitchFamily="2" charset="2"/>
              <a:buChar char="§"/>
            </a:pPr>
            <a:r>
              <a:rPr lang="en-US" sz="2600" dirty="0">
                <a:solidFill>
                  <a:schemeClr val="bg1"/>
                </a:solidFill>
                <a:latin typeface="Times New Roman" panose="02020603050405020304" pitchFamily="18" charset="0"/>
                <a:cs typeface="Times New Roman" panose="02020603050405020304" pitchFamily="18" charset="0"/>
              </a:rPr>
              <a:t>Helps in inventory and food planning. </a:t>
            </a:r>
          </a:p>
          <a:p>
            <a:endParaRPr lang="en-US" dirty="0"/>
          </a:p>
        </p:txBody>
      </p:sp>
    </p:spTree>
    <p:extLst>
      <p:ext uri="{BB962C8B-B14F-4D97-AF65-F5344CB8AC3E}">
        <p14:creationId xmlns:p14="http://schemas.microsoft.com/office/powerpoint/2010/main" val="38024409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7E3EE2-15A1-DD46-EB32-5AF541FA21E0}"/>
              </a:ext>
            </a:extLst>
          </p:cNvPr>
          <p:cNvSpPr>
            <a:spLocks noGrp="1"/>
          </p:cNvSpPr>
          <p:nvPr>
            <p:ph idx="1"/>
          </p:nvPr>
        </p:nvSpPr>
        <p:spPr>
          <a:xfrm>
            <a:off x="220337" y="297455"/>
            <a:ext cx="11512627" cy="6081311"/>
          </a:xfrm>
        </p:spPr>
        <p:txBody>
          <a:bodyPr>
            <a:normAutofit fontScale="55000" lnSpcReduction="20000"/>
          </a:bodyPr>
          <a:lstStyle/>
          <a:p>
            <a:pPr marL="0" indent="0">
              <a:buNone/>
            </a:pPr>
            <a:r>
              <a:rPr lang="en-US" sz="4500" b="1" dirty="0">
                <a:solidFill>
                  <a:schemeClr val="accent2">
                    <a:lumMod val="60000"/>
                    <a:lumOff val="40000"/>
                  </a:schemeClr>
                </a:solidFill>
                <a:latin typeface="Bodoni MT" panose="02070603080606020203" pitchFamily="18" charset="0"/>
              </a:rPr>
              <a:t>Non-Functional Requirements (NFR)</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bg1"/>
                </a:solidFill>
                <a:latin typeface="Times New Roman" panose="02020603050405020304" pitchFamily="18" charset="0"/>
                <a:cs typeface="Times New Roman" panose="02020603050405020304" pitchFamily="18" charset="0"/>
              </a:rPr>
              <a:t>1. Performance </a:t>
            </a:r>
          </a:p>
          <a:p>
            <a:pPr lvl="1">
              <a:buFont typeface="Wingdings" panose="05000000000000000000" pitchFamily="2" charset="2"/>
              <a:buChar char="§"/>
            </a:pPr>
            <a:r>
              <a:rPr lang="en-US" sz="2900" dirty="0">
                <a:solidFill>
                  <a:schemeClr val="bg1"/>
                </a:solidFill>
              </a:rPr>
              <a:t> The system should load menus and place orders within a few seconds.</a:t>
            </a:r>
          </a:p>
          <a:p>
            <a:pPr lvl="1">
              <a:buFont typeface="Wingdings" panose="05000000000000000000" pitchFamily="2" charset="2"/>
              <a:buChar char="§"/>
            </a:pPr>
            <a:r>
              <a:rPr lang="en-US" sz="2900" dirty="0">
                <a:solidFill>
                  <a:schemeClr val="bg1"/>
                </a:solidFill>
              </a:rPr>
              <a:t> Works smoothly during peak hours (break/lunch time). </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bg1"/>
                </a:solidFill>
                <a:latin typeface="Times New Roman" panose="02020603050405020304" pitchFamily="18" charset="0"/>
                <a:cs typeface="Times New Roman" panose="02020603050405020304" pitchFamily="18" charset="0"/>
              </a:rPr>
              <a:t>2. Security </a:t>
            </a:r>
          </a:p>
          <a:p>
            <a:pPr lvl="1">
              <a:buFont typeface="Wingdings" panose="05000000000000000000" pitchFamily="2" charset="2"/>
              <a:buChar char="§"/>
            </a:pPr>
            <a:r>
              <a:rPr lang="en-US" sz="2900" dirty="0">
                <a:solidFill>
                  <a:schemeClr val="bg1"/>
                </a:solidFill>
              </a:rPr>
              <a:t> User data and payment details must be securely stored. </a:t>
            </a:r>
          </a:p>
          <a:p>
            <a:pPr lvl="1">
              <a:buFont typeface="Wingdings" panose="05000000000000000000" pitchFamily="2" charset="2"/>
              <a:buChar char="§"/>
            </a:pPr>
            <a:r>
              <a:rPr lang="en-US" sz="2900" dirty="0">
                <a:solidFill>
                  <a:schemeClr val="bg1"/>
                </a:solidFill>
              </a:rPr>
              <a:t>Only authorized users can access admin features.</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bg1"/>
                </a:solidFill>
                <a:latin typeface="Times New Roman" panose="02020603050405020304" pitchFamily="18" charset="0"/>
                <a:cs typeface="Times New Roman" panose="02020603050405020304" pitchFamily="18" charset="0"/>
              </a:rPr>
              <a:t>3. Reliability </a:t>
            </a:r>
          </a:p>
          <a:p>
            <a:pPr lvl="1">
              <a:buFont typeface="Wingdings" panose="05000000000000000000" pitchFamily="2" charset="2"/>
              <a:buChar char="§"/>
            </a:pPr>
            <a:r>
              <a:rPr lang="en-US" sz="2900" dirty="0">
                <a:solidFill>
                  <a:schemeClr val="bg1"/>
                </a:solidFill>
              </a:rPr>
              <a:t> System should work without crashing. </a:t>
            </a:r>
          </a:p>
          <a:p>
            <a:pPr lvl="1">
              <a:buFont typeface="Wingdings" panose="05000000000000000000" pitchFamily="2" charset="2"/>
              <a:buChar char="§"/>
            </a:pPr>
            <a:r>
              <a:rPr lang="en-US" sz="2900" dirty="0">
                <a:solidFill>
                  <a:schemeClr val="bg1"/>
                </a:solidFill>
              </a:rPr>
              <a:t>Orders must not be lost during processing.</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bg1"/>
                </a:solidFill>
                <a:latin typeface="Times New Roman" panose="02020603050405020304" pitchFamily="18" charset="0"/>
                <a:cs typeface="Times New Roman" panose="02020603050405020304" pitchFamily="18" charset="0"/>
              </a:rPr>
              <a:t>4. Availability </a:t>
            </a:r>
          </a:p>
          <a:p>
            <a:pPr lvl="1">
              <a:buFont typeface="Wingdings" panose="05000000000000000000" pitchFamily="2" charset="2"/>
              <a:buChar char="§"/>
            </a:pPr>
            <a:r>
              <a:rPr lang="en-US" sz="2900" dirty="0">
                <a:solidFill>
                  <a:schemeClr val="bg1"/>
                </a:solidFill>
              </a:rPr>
              <a:t> System should be available during canteen working hours. </a:t>
            </a:r>
          </a:p>
          <a:p>
            <a:pPr lvl="1">
              <a:buFont typeface="Wingdings" panose="05000000000000000000" pitchFamily="2" charset="2"/>
              <a:buChar char="§"/>
            </a:pPr>
            <a:r>
              <a:rPr lang="en-US" sz="2900" dirty="0">
                <a:solidFill>
                  <a:schemeClr val="bg1"/>
                </a:solidFill>
              </a:rPr>
              <a:t>Minimal downtime.</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bg1"/>
                </a:solidFill>
                <a:latin typeface="Times New Roman" panose="02020603050405020304" pitchFamily="18" charset="0"/>
                <a:cs typeface="Times New Roman" panose="02020603050405020304" pitchFamily="18" charset="0"/>
              </a:rPr>
              <a:t>5. Usability </a:t>
            </a:r>
          </a:p>
          <a:p>
            <a:pPr lvl="1">
              <a:buFont typeface="Wingdings" panose="05000000000000000000" pitchFamily="2" charset="2"/>
              <a:buChar char="§"/>
            </a:pPr>
            <a:r>
              <a:rPr lang="en-US" sz="3300" dirty="0">
                <a:solidFill>
                  <a:schemeClr val="bg1"/>
                </a:solidFill>
              </a:rPr>
              <a:t> Interface should be simple and easy to use. </a:t>
            </a:r>
          </a:p>
          <a:p>
            <a:pPr lvl="1">
              <a:buFont typeface="Wingdings" panose="05000000000000000000" pitchFamily="2" charset="2"/>
              <a:buChar char="§"/>
            </a:pPr>
            <a:r>
              <a:rPr lang="en-US" sz="3300" dirty="0">
                <a:solidFill>
                  <a:schemeClr val="bg1"/>
                </a:solidFill>
              </a:rPr>
              <a:t> Clear buttons, readable text, and simple navigation. </a:t>
            </a:r>
          </a:p>
        </p:txBody>
      </p:sp>
    </p:spTree>
    <p:extLst>
      <p:ext uri="{BB962C8B-B14F-4D97-AF65-F5344CB8AC3E}">
        <p14:creationId xmlns:p14="http://schemas.microsoft.com/office/powerpoint/2010/main" val="31803007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479E57-16DE-6908-AA4A-F6F8335B23BB}"/>
              </a:ext>
            </a:extLst>
          </p:cNvPr>
          <p:cNvSpPr>
            <a:spLocks noGrp="1"/>
          </p:cNvSpPr>
          <p:nvPr>
            <p:ph idx="1"/>
          </p:nvPr>
        </p:nvSpPr>
        <p:spPr>
          <a:xfrm>
            <a:off x="838200" y="176270"/>
            <a:ext cx="10515600" cy="6588087"/>
          </a:xfrm>
        </p:spPr>
        <p:txBody>
          <a:bodyPr>
            <a:normAutofit fontScale="85000" lnSpcReduction="20000"/>
          </a:bodyPr>
          <a:lstStyle/>
          <a:p>
            <a:pPr marL="0" indent="0">
              <a:buNone/>
            </a:pPr>
            <a:r>
              <a:rPr lang="en-US" b="1" dirty="0">
                <a:solidFill>
                  <a:schemeClr val="bg1"/>
                </a:solidFill>
                <a:latin typeface="Times New Roman" panose="02020603050405020304" pitchFamily="18" charset="0"/>
                <a:cs typeface="Times New Roman" panose="02020603050405020304" pitchFamily="18" charset="0"/>
              </a:rPr>
              <a:t>6. Scalability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System should handle more users and orders in future.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Supports menu expansion without redesign.</a:t>
            </a:r>
          </a:p>
          <a:p>
            <a:pPr marL="0" indent="0">
              <a:buNone/>
            </a:pPr>
            <a:r>
              <a:rPr lang="en-US" dirty="0">
                <a:solidFill>
                  <a:schemeClr val="bg1"/>
                </a:solidFill>
                <a:latin typeface="Times New Roman" panose="02020603050405020304" pitchFamily="18" charset="0"/>
                <a:cs typeface="Times New Roman" panose="02020603050405020304" pitchFamily="18" charset="0"/>
              </a:rPr>
              <a:t> </a:t>
            </a:r>
          </a:p>
          <a:p>
            <a:pPr marL="0" indent="0">
              <a:buNone/>
            </a:pPr>
            <a:r>
              <a:rPr lang="en-US" b="1" dirty="0">
                <a:solidFill>
                  <a:schemeClr val="bg1"/>
                </a:solidFill>
                <a:latin typeface="Times New Roman" panose="02020603050405020304" pitchFamily="18" charset="0"/>
                <a:cs typeface="Times New Roman" panose="02020603050405020304" pitchFamily="18" charset="0"/>
              </a:rPr>
              <a:t>7. Maintainability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Easy to update menu items, prices, and offers.</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 Simple maintenance and bug fixing.</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bg1"/>
                </a:solidFill>
                <a:latin typeface="Times New Roman" panose="02020603050405020304" pitchFamily="18" charset="0"/>
                <a:cs typeface="Times New Roman" panose="02020603050405020304" pitchFamily="18" charset="0"/>
              </a:rPr>
              <a:t>8. Data Accuracy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Ensures correct order details and billing.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Prevents duplicate orders. </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bg1"/>
                </a:solidFill>
                <a:latin typeface="Times New Roman" panose="02020603050405020304" pitchFamily="18" charset="0"/>
                <a:cs typeface="Times New Roman" panose="02020603050405020304" pitchFamily="18" charset="0"/>
              </a:rPr>
              <a:t>9. Compatibility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Works on mobile phones, tablets, and desktops.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 Supports common browsers. </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bg1"/>
                </a:solidFill>
                <a:latin typeface="Times New Roman" panose="02020603050405020304" pitchFamily="18" charset="0"/>
                <a:cs typeface="Times New Roman" panose="02020603050405020304" pitchFamily="18" charset="0"/>
              </a:rPr>
              <a:t>10. Backup &amp; Recovery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System should regularly backup order and user data. </a:t>
            </a:r>
          </a:p>
          <a:p>
            <a:pPr lvl="1">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Allows data recovery in case of failure.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6478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7000"/>
            <a:lum/>
            <a:extLst>
              <a:ext uri="{BEBA8EAE-BF5A-486C-A8C5-ECC9F3942E4B}">
                <a14:imgProps xmlns:a14="http://schemas.microsoft.com/office/drawing/2010/main">
                  <a14:imgLayer r:embed="rId3">
                    <a14:imgEffect>
                      <a14:colorTemperature colorTemp="4694"/>
                    </a14:imgEffect>
                    <a14:imgEffect>
                      <a14:saturation sat="139000"/>
                    </a14:imgEffect>
                  </a14:imgLayer>
                </a14:imgProps>
              </a:ex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C8404-E299-B931-061D-784F6258BE61}"/>
              </a:ext>
            </a:extLst>
          </p:cNvPr>
          <p:cNvSpPr>
            <a:spLocks noGrp="1"/>
          </p:cNvSpPr>
          <p:nvPr>
            <p:ph type="title"/>
          </p:nvPr>
        </p:nvSpPr>
        <p:spPr>
          <a:xfrm>
            <a:off x="2840391" y="705080"/>
            <a:ext cx="6854451" cy="3561329"/>
          </a:xfrm>
          <a:effectLst>
            <a:reflection blurRad="6350" endPos="0" dir="5400000" sy="-100000" algn="bl" rotWithShape="0"/>
          </a:effectLst>
          <a:scene3d>
            <a:camera prst="orthographicFront"/>
            <a:lightRig rig="freezing" dir="t"/>
          </a:scene3d>
          <a:sp3d prstMaterial="softEdge"/>
        </p:spPr>
        <p:txBody>
          <a:bodyPr>
            <a:normAutofit/>
          </a:bodyPr>
          <a:lstStyle/>
          <a:p>
            <a:pPr algn="ctr"/>
            <a:r>
              <a:rPr lang="en-US" sz="8800" dirty="0">
                <a:latin typeface="Algerian" panose="04020705040A02060702" pitchFamily="82" charset="0"/>
              </a:rPr>
              <a:t>THANK  YOU</a:t>
            </a:r>
          </a:p>
        </p:txBody>
      </p:sp>
    </p:spTree>
    <p:extLst>
      <p:ext uri="{BB962C8B-B14F-4D97-AF65-F5344CB8AC3E}">
        <p14:creationId xmlns:p14="http://schemas.microsoft.com/office/powerpoint/2010/main" val="334160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271</TotalTime>
  <Words>1387</Words>
  <Application>Microsoft Office PowerPoint</Application>
  <PresentationFormat>Widescreen</PresentationFormat>
  <Paragraphs>182</Paragraphs>
  <Slides>16</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Algerian</vt:lpstr>
      <vt:lpstr>Angsana New</vt:lpstr>
      <vt:lpstr>Aparajita</vt:lpstr>
      <vt:lpstr>Arial</vt:lpstr>
      <vt:lpstr>Bodoni MT</vt:lpstr>
      <vt:lpstr>Calibri</vt:lpstr>
      <vt:lpstr>Calibri Light</vt:lpstr>
      <vt:lpstr>Times New Roman</vt:lpstr>
      <vt:lpstr>Wingdings</vt:lpstr>
      <vt:lpstr>Office Theme</vt:lpstr>
      <vt:lpstr>Canteen Pre-Order System</vt:lpstr>
      <vt:lpstr>INTRODUCTION</vt:lpstr>
      <vt:lpstr>PROBLEM  STATEMENT </vt:lpstr>
      <vt:lpstr>ABSTRACT  </vt:lpstr>
      <vt:lpstr>Existing System -Uses</vt:lpstr>
      <vt:lpstr>EXISTING SYSTEM - DRAWBACKS</vt:lpstr>
      <vt:lpstr>PROPOSED SYSTEM</vt:lpstr>
      <vt:lpstr>LITERATURE SURVEY</vt:lpstr>
      <vt:lpstr>PowerPoint Presentation</vt:lpstr>
      <vt:lpstr>PowerPoint Presentation</vt:lpstr>
      <vt:lpstr>ER DIAGRAM</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Bright</dc:creator>
  <cp:lastModifiedBy>Roshan Bright</cp:lastModifiedBy>
  <cp:revision>27</cp:revision>
  <dcterms:created xsi:type="dcterms:W3CDTF">2026-01-30T13:44:58Z</dcterms:created>
  <dcterms:modified xsi:type="dcterms:W3CDTF">2026-10-16T03:18:48Z</dcterms:modified>
</cp:coreProperties>
</file>